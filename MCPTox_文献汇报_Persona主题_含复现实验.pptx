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273714024449d8" /><Relationship Type="http://schemas.openxmlformats.org/officeDocument/2006/relationships/extended-properties" Target="/docProps/app.xml" Id="R1ba355894d4a4b24" /><Relationship Type="http://schemas.openxmlformats.org/officeDocument/2006/relationships/officeDocument" Target="/ppt/presentation.xml" Id="R020b6c979432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fbd179617942c8"/>
  </p:sldMasterIdLst>
  <p:notesMasterIdLst>
    <p:notesMasterId xmlns:r="http://schemas.openxmlformats.org/officeDocument/2006/relationships" r:id="R8a7f4e70bed24142"/>
  </p:notesMasterIdLst>
  <p:sldIdLst>
    <p:sldId xmlns:r="http://schemas.openxmlformats.org/officeDocument/2006/relationships" id="256" r:id="R36af87f161b84fc8"/>
    <p:sldId xmlns:r="http://schemas.openxmlformats.org/officeDocument/2006/relationships" id="257" r:id="Rd080bff1972a4040"/>
    <p:sldId xmlns:r="http://schemas.openxmlformats.org/officeDocument/2006/relationships" id="258" r:id="R5fac8afbb60047d3"/>
    <p:sldId xmlns:r="http://schemas.openxmlformats.org/officeDocument/2006/relationships" id="259" r:id="Ra09ff5cfadfa4869"/>
    <p:sldId xmlns:r="http://schemas.openxmlformats.org/officeDocument/2006/relationships" id="260" r:id="R6375bf7322f941df"/>
    <p:sldId xmlns:r="http://schemas.openxmlformats.org/officeDocument/2006/relationships" id="261" r:id="R503c05ced8b640f4"/>
    <p:sldId xmlns:r="http://schemas.openxmlformats.org/officeDocument/2006/relationships" id="262" r:id="R138db447ea3041e6"/>
    <p:sldId xmlns:r="http://schemas.openxmlformats.org/officeDocument/2006/relationships" id="263" r:id="R62321ac619e14a2c"/>
    <p:sldId xmlns:r="http://schemas.openxmlformats.org/officeDocument/2006/relationships" id="264" r:id="Rb3842c3faffc436b"/>
    <p:sldId xmlns:r="http://schemas.openxmlformats.org/officeDocument/2006/relationships" id="265" r:id="R62fbe0a1e04c473d"/>
    <p:sldId xmlns:r="http://schemas.openxmlformats.org/officeDocument/2006/relationships" id="266" r:id="Rdba8f4e187f34226"/>
    <p:sldId xmlns:r="http://schemas.openxmlformats.org/officeDocument/2006/relationships" id="267" r:id="Re459e0088e3b42eb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b11aeda934cf6" /><Relationship Type="http://schemas.openxmlformats.org/officeDocument/2006/relationships/slideMaster" Target="/ppt/slideMasters/slideMaster1.xml" Id="R3ffbd179617942c8" /><Relationship Type="http://schemas.openxmlformats.org/officeDocument/2006/relationships/notesMaster" Target="/ppt/notesMasters/notesMaster1.xml" Id="R8a7f4e70bed24142" /><Relationship Type="http://schemas.openxmlformats.org/officeDocument/2006/relationships/presProps" Target="/ppt/presProps.xml" Id="R46742cc40f5b4ad2" /><Relationship Type="http://schemas.openxmlformats.org/officeDocument/2006/relationships/viewProps" Target="/ppt/viewProps.xml" Id="Rd5d66d0bd5ee4d16" /><Relationship Type="http://schemas.openxmlformats.org/officeDocument/2006/relationships/tableStyles" Target="/ppt/tableStyles.xml" Id="R1b6da41ea8164b48" /><Relationship Type="http://schemas.openxmlformats.org/officeDocument/2006/relationships/slide" Target="/ppt/slides/slide1.xml" Id="R36af87f161b84fc8" /><Relationship Type="http://schemas.openxmlformats.org/officeDocument/2006/relationships/slide" Target="/ppt/slides/slide2.xml" Id="Rd080bff1972a4040" /><Relationship Type="http://schemas.openxmlformats.org/officeDocument/2006/relationships/slide" Target="/ppt/slides/slide3.xml" Id="R5fac8afbb60047d3" /><Relationship Type="http://schemas.openxmlformats.org/officeDocument/2006/relationships/slide" Target="/ppt/slides/slide4.xml" Id="Ra09ff5cfadfa4869" /><Relationship Type="http://schemas.openxmlformats.org/officeDocument/2006/relationships/slide" Target="/ppt/slides/slide5.xml" Id="R6375bf7322f941df" /><Relationship Type="http://schemas.openxmlformats.org/officeDocument/2006/relationships/slide" Target="/ppt/slides/slide6.xml" Id="R503c05ced8b640f4" /><Relationship Type="http://schemas.openxmlformats.org/officeDocument/2006/relationships/slide" Target="/ppt/slides/slide7.xml" Id="R138db447ea3041e6" /><Relationship Type="http://schemas.openxmlformats.org/officeDocument/2006/relationships/slide" Target="/ppt/slides/slide8.xml" Id="R62321ac619e14a2c" /><Relationship Type="http://schemas.openxmlformats.org/officeDocument/2006/relationships/slide" Target="/ppt/slides/slide9.xml" Id="Rb3842c3faffc436b" /><Relationship Type="http://schemas.openxmlformats.org/officeDocument/2006/relationships/slide" Target="/ppt/slides/slide10.xml" Id="R62fbe0a1e04c473d" /><Relationship Type="http://schemas.openxmlformats.org/officeDocument/2006/relationships/slide" Target="/ppt/slides/slide11.xml" Id="Rdba8f4e187f34226" /><Relationship Type="http://schemas.openxmlformats.org/officeDocument/2006/relationships/slide" Target="/ppt/slides/slide12.xml" Id="Re459e0088e3b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a893a8bc8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f61edadbe64c36" /><Relationship Type="http://schemas.openxmlformats.org/officeDocument/2006/relationships/notesMaster" Target="/ppt/notesMasters/notesMaster1.xml" Id="Rcf883fbe7364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dc2e296d84415" /><Relationship Type="http://schemas.openxmlformats.org/officeDocument/2006/relationships/notesMaster" Target="/ppt/notesMasters/notesMaster1.xml" Id="Rf10ada0f37ac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c001017834b79" /><Relationship Type="http://schemas.openxmlformats.org/officeDocument/2006/relationships/notesMaster" Target="/ppt/notesMasters/notesMaster1.xml" Id="R4516d193f41142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27b429b772409c" /><Relationship Type="http://schemas.openxmlformats.org/officeDocument/2006/relationships/notesMaster" Target="/ppt/notesMasters/notesMaster1.xml" Id="R347c224a37e043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03f483872405f" /><Relationship Type="http://schemas.openxmlformats.org/officeDocument/2006/relationships/notesMaster" Target="/ppt/notesMasters/notesMaster1.xml" Id="R2efa234c1f8b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27ec89998b43e8" /><Relationship Type="http://schemas.openxmlformats.org/officeDocument/2006/relationships/notesMaster" Target="/ppt/notesMasters/notesMaster1.xml" Id="R178c3334dc0e44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8cdeace957488c" /><Relationship Type="http://schemas.openxmlformats.org/officeDocument/2006/relationships/notesMaster" Target="/ppt/notesMasters/notesMaster1.xml" Id="Rda8d576c51934b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d905dbe6ff408e" /><Relationship Type="http://schemas.openxmlformats.org/officeDocument/2006/relationships/notesMaster" Target="/ppt/notesMasters/notesMaster1.xml" Id="R73ea81510c3d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b53c2f42fb431f" /><Relationship Type="http://schemas.openxmlformats.org/officeDocument/2006/relationships/notesMaster" Target="/ppt/notesMasters/notesMaster1.xml" Id="Rcfcc2ead39e4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09060ecfc343bc" /><Relationship Type="http://schemas.openxmlformats.org/officeDocument/2006/relationships/notesMaster" Target="/ppt/notesMasters/notesMaster1.xml" Id="R0b63c8a9e7de44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b9af60c5094406" /><Relationship Type="http://schemas.openxmlformats.org/officeDocument/2006/relationships/notesMaster" Target="/ppt/notesMasters/notesMaster1.xml" Id="R5a8588fbe11644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ca011202904067" /><Relationship Type="http://schemas.openxmlformats.org/officeDocument/2006/relationships/notesMaster" Target="/ppt/notesMasters/notesMaster1.xml" Id="R69006f12f6ad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MCPTox_文献汇报.pptx，第2页；内容迁移与版式适配。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MCPTox_文献汇报.pptx，第3页；内容迁移与版式适配。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MCPTox_文献汇报.pptx，第4页；内容迁移与版式适配。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MCPTox_文献汇报.pptx，第5页；内容迁移与版式适配。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MCPTox_文献汇报.pptx，第6页；内容迁移与版式适配。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MCPTox_文献汇报.pptx，第7页；内容迁移与版式适配。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MCPTox_文献汇报.pptx，第8页；内容迁移与版式适配。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F:/idmDownlowd/inspect-evals-mcptox/results/comparison_50samples.md</a:t>
            </a:r>
          </a:p>
          <a:p xmlns:a="http://schemas.openxmlformats.org/drawingml/2006/main">
            <a:r>
              <a:t>- 50 samples from the 1,312-instance valid benchmark set; target model also served as judge.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F:/idmDownlowd/inspect-evals-mcptox/results/mimo-v2.5-300.json</a:t>
            </a:r>
          </a:p>
          <a:p xmlns:a="http://schemas.openxmlformats.org/drawingml/2006/main">
            <a:r>
              <a:t>- F:/idmDownlowd/inspect-evals-mcptox/results/mimo-v2.5-pro-300.json</a:t>
            </a:r>
          </a:p>
          <a:p xmlns:a="http://schemas.openxmlformats.org/drawingml/2006/main">
            <a:r>
              <a:t>- ASR recomputed as Success / (Total - Invalid).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MCPTox_文献汇报.pptx，第10页；内容迁移与版式适配。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b7f11e2844c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a9437378448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8f6d5e31c4a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5984437041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70ed0a9e349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b9b53022b448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850be012945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345b4016b49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ae0dff3c746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a60fba5e64b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7bc6193c04d4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F2C25E-01D6-4D89-890E-73257BE843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272E4C5-6976-47AA-A754-31180EEAEC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9F17CE-B7F9-49A1-8E4C-BDC0A26F87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BD29D3-E910-4396-8543-4B05E77576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E7B22F-7463-4B01-8CB7-3F8A67AC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B859DA-9DAF-4DC0-AC88-2ED6011FF1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0A1BCE-E106-48A7-980A-565ECE39EB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1FA571-1B86-4DED-BBCE-125F7CF69E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F14A51-5CF0-480D-A840-DA571CF08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E92292-406C-470A-86B8-1600551018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6A8AE4-265A-4A2A-89C4-B8384A4E1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A54807-3D1D-40E2-B94D-06B9C81796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9CDB2D-32BC-475E-A356-B52B76817B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BFBF2B-8650-4D95-838C-9B12FAA38A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4FC48A-07FA-43E2-9D8E-8433F2753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B75DDC-FC52-48C8-9CAB-8A1730BC2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F8962C-0114-4D05-B1E3-BE1397E341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1E04CD-2101-4306-B674-0DA60D70D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CF21A7-CB43-447D-AAEA-9DC3B06680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6D1268-E253-4FD8-B980-19A425A322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1AE730-B7B7-44EF-9962-35AB0B944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A78A86-6A48-43E6-A6BC-480DD002C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D62615-7AFA-40DF-B3DC-1D774463F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39E9E09-BD0D-43FD-9DF9-926C14AF79F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260BAE-46C0-4A4F-A98E-7797AC9256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08BB590-C4C7-498F-8F56-43EA449B1A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8A365A8-4AC4-4097-A580-AE70D280F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7F1686-190C-435D-9143-78E32F9BEE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D28557-8F0B-4FAB-A443-38ADD28D8E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69B6D-5F47-4F77-BB34-98D90F744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075ADC9-0EC9-41FB-8ABB-31F8AFFD3B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BE55EE8-A9A6-4B9D-9E10-95774BC09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3AA750-43FE-48FD-909E-EFC9B6120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E6A6DB-B25E-4B87-923B-75224CBB48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01DDDA9-5A33-4DFE-818E-42AD5D1CF2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0CC6D5-C67A-49AF-A3BD-4A8C8D7848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7C5D24-411F-4F6E-BD36-358418DC01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A3630-8D54-47E6-8E47-E6C5CA0632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720BF3-7543-4028-A0D0-5FB56B4EE4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DBB082B-F166-499F-B4D1-14C317CB0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433989D-BE0D-4F9E-A487-A0936DF360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89D712-A080-4859-A321-EC6B2B6B0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76FA30-1DBD-46AF-94DC-B0156B309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3131B4D-6519-4B6E-A05B-82BED4F4E8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03FAF4-6D11-4028-8230-17B96B7AFA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D8D8D6-5716-4F0C-8BAA-E7ED9C14C7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15BB70-45EF-4A47-8468-1DE1A602EB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4A03F1E-F5A8-4983-8A30-8FE0852633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FDC43B-F547-49AB-94CC-92316987E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71A2C6-1C9A-4523-BEE0-413576DDD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F15DD1-FBE1-43F1-AA31-8337CD125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AFC4C7-DCA6-4750-9E97-94E2795E3E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E89572-3E48-4C04-8CB6-8578495DEB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ED0255F-F5AE-4F30-8886-ECFD779D4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A87F39-9CE0-4332-89CF-CFD700795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AB1FC-0EFC-40AD-A29F-DAE4945969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B9D733-494C-462B-BFF9-370EB7E494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B9397E-83C4-4054-AD09-DE002A8EA0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05dc78f1c422a" /><Relationship Type="http://schemas.openxmlformats.org/officeDocument/2006/relationships/slideLayout" Target="/ppt/slideLayouts/slideLayout1.xml" Id="R56de99c613a74651" /><Relationship Type="http://schemas.openxmlformats.org/officeDocument/2006/relationships/slideLayout" Target="/ppt/slideLayouts/slideLayout2.xml" Id="R77f589e6fddb47d4" /><Relationship Type="http://schemas.openxmlformats.org/officeDocument/2006/relationships/slideLayout" Target="/ppt/slideLayouts/slideLayout3.xml" Id="Rb29b292d419c4b94" /><Relationship Type="http://schemas.openxmlformats.org/officeDocument/2006/relationships/slideLayout" Target="/ppt/slideLayouts/slideLayout4.xml" Id="R881e0ac5bc454f1c" /><Relationship Type="http://schemas.openxmlformats.org/officeDocument/2006/relationships/slideLayout" Target="/ppt/slideLayouts/slideLayout5.xml" Id="R4dabf41be533427f" /><Relationship Type="http://schemas.openxmlformats.org/officeDocument/2006/relationships/slideLayout" Target="/ppt/slideLayouts/slideLayout6.xml" Id="R8731201f59b740e5" /><Relationship Type="http://schemas.openxmlformats.org/officeDocument/2006/relationships/slideLayout" Target="/ppt/slideLayouts/slideLayout7.xml" Id="Re64ec9b2ba28491b" /><Relationship Type="http://schemas.openxmlformats.org/officeDocument/2006/relationships/slideLayout" Target="/ppt/slideLayouts/slideLayout8.xml" Id="Rdcec707d62d743c7" /><Relationship Type="http://schemas.openxmlformats.org/officeDocument/2006/relationships/slideLayout" Target="/ppt/slideLayouts/slideLayout9.xml" Id="R6a6ab68235fa4c01" /><Relationship Type="http://schemas.openxmlformats.org/officeDocument/2006/relationships/slideLayout" Target="/ppt/slideLayouts/slideLayout10.xml" Id="R7d782db7c66f4a68" /><Relationship Type="http://schemas.openxmlformats.org/officeDocument/2006/relationships/slideLayout" Target="/ppt/slideLayouts/slideLayout11.xml" Id="Ra4a2f3d7f9ff4c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6DD55E4-8176-4A63-9E78-82D3D45D6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B1F5ED-5BFB-42C5-A4A3-BFA74575F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E24284-4C87-403B-A16D-274CCE8ABF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253437-67EC-4883-A5C4-D1F330E3182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AFC8CE-05F4-42AE-89CF-F3542F0BBB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e99c613a74651"/>
    <p:sldLayoutId xmlns:r="http://schemas.openxmlformats.org/officeDocument/2006/relationships" id="2147483650" r:id="R77f589e6fddb47d4"/>
    <p:sldLayoutId xmlns:r="http://schemas.openxmlformats.org/officeDocument/2006/relationships" id="2147483651" r:id="Rb29b292d419c4b94"/>
    <p:sldLayoutId xmlns:r="http://schemas.openxmlformats.org/officeDocument/2006/relationships" id="2147483652" r:id="R881e0ac5bc454f1c"/>
    <p:sldLayoutId xmlns:r="http://schemas.openxmlformats.org/officeDocument/2006/relationships" id="2147483653" r:id="R4dabf41be533427f"/>
    <p:sldLayoutId xmlns:r="http://schemas.openxmlformats.org/officeDocument/2006/relationships" id="2147483654" r:id="R8731201f59b740e5"/>
    <p:sldLayoutId xmlns:r="http://schemas.openxmlformats.org/officeDocument/2006/relationships" id="2147483655" r:id="Re64ec9b2ba28491b"/>
    <p:sldLayoutId xmlns:r="http://schemas.openxmlformats.org/officeDocument/2006/relationships" id="2147483656" r:id="Rdcec707d62d743c7"/>
    <p:sldLayoutId xmlns:r="http://schemas.openxmlformats.org/officeDocument/2006/relationships" id="2147483657" r:id="R6a6ab68235fa4c01"/>
    <p:sldLayoutId xmlns:r="http://schemas.openxmlformats.org/officeDocument/2006/relationships" id="2147483658" r:id="R7d782db7c66f4a68"/>
    <p:sldLayoutId xmlns:r="http://schemas.openxmlformats.org/officeDocument/2006/relationships" id="2147483659" r:id="Ra4a2f3d7f9ff4cb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700f47f6e54df2" /><Relationship Type="http://schemas.openxmlformats.org/officeDocument/2006/relationships/notesSlide" Target="/ppt/notesSlides/notesSlide1.xml" Id="Rae3a6f451f20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6d8728110f45fb" /><Relationship Type="http://schemas.openxmlformats.org/officeDocument/2006/relationships/notesSlide" Target="/ppt/notesSlides/notesSlide2.xml" Id="Rca4660c7e759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d9ebd19b3e4418" /><Relationship Type="http://schemas.openxmlformats.org/officeDocument/2006/relationships/notesSlide" Target="/ppt/notesSlides/notesSlide3.xml" Id="Rf4339ec9107449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88e9229d734520" /><Relationship Type="http://schemas.openxmlformats.org/officeDocument/2006/relationships/notesSlide" Target="/ppt/notesSlides/notesSlide4.xml" Id="R1f254630b34943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1c5f4fb7e3406a" /><Relationship Type="http://schemas.openxmlformats.org/officeDocument/2006/relationships/notesSlide" Target="/ppt/notesSlides/notesSlide5.xml" Id="R5c7d34c5feb8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3a8d24695148ff" /><Relationship Type="http://schemas.openxmlformats.org/officeDocument/2006/relationships/notesSlide" Target="/ppt/notesSlides/notesSlide6.xml" Id="R90f0d0c2d77f45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d35f1d770a4892" /><Relationship Type="http://schemas.openxmlformats.org/officeDocument/2006/relationships/notesSlide" Target="/ppt/notesSlides/notesSlide7.xml" Id="R276c9c66a21a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0c8d9115784b82" /><Relationship Type="http://schemas.openxmlformats.org/officeDocument/2006/relationships/notesSlide" Target="/ppt/notesSlides/notesSlide8.xml" Id="Rd072ea99dba245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2b837c2cbd41e6" /><Relationship Type="http://schemas.openxmlformats.org/officeDocument/2006/relationships/notesSlide" Target="/ppt/notesSlides/notesSlide9.xml" Id="R45c947cc2153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a05e1604024e1a" /><Relationship Type="http://schemas.openxmlformats.org/officeDocument/2006/relationships/chart" Target="/ppt/slides/charts/chart1.xml" Id="R306eec49a1e3414b" /><Relationship Type="http://schemas.openxmlformats.org/officeDocument/2006/relationships/notesSlide" Target="/ppt/notesSlides/notesSlide10.xml" Id="Ra9ed9d6931974c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09a51711db46fe" /><Relationship Type="http://schemas.openxmlformats.org/officeDocument/2006/relationships/chart" Target="/ppt/slides/charts/chart2.xml" Id="Rcd9842ce937847b2" /><Relationship Type="http://schemas.openxmlformats.org/officeDocument/2006/relationships/notesSlide" Target="/ppt/notesSlides/notesSlide11.xml" Id="R0e6ad9528bb440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c02493d43f4f14" /><Relationship Type="http://schemas.openxmlformats.org/officeDocument/2006/relationships/notesSlide" Target="/ppt/notesSlides/notesSlide12.xml" Id="R5e718c34e74f44b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4E79"/>
                </a:solidFill>
              </a:rPr>
              <a:t>总体与分攻击范式 ASR（%）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F4E79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MiMo v2.5</c:v>
          </c:tx>
          <c:spPr>
            <a:solidFill xmlns:a="http://schemas.openxmlformats.org/drawingml/2006/main">
              <a:srgbClr val="2B5A83"/>
            </a:solidFill>
          </c:spPr>
          <c:cat>
            <c:strLit>
              <c:ptCount val="4"/>
              <c:pt idx="0">
                <c:v>Overall</c:v>
              </c:pt>
              <c:pt idx="1">
                <c:v>P1</c:v>
              </c:pt>
              <c:pt idx="2">
                <c:v>P2</c:v>
              </c:pt>
              <c:pt idx="3">
                <c:v>P3</c:v>
              </c:pt>
            </c:strLit>
          </c:cat>
          <c:val>
            <c:numLit>
              <c:formatCode>0.0</c:formatCode>
              <c:ptCount val="4"/>
              <c:pt idx="0">
                <c:v>6.2</c:v>
              </c:pt>
              <c:pt idx="1">
                <c:v>12.5</c:v>
              </c:pt>
              <c:pt idx="2">
                <c:v>0</c:v>
              </c:pt>
              <c:pt idx="3">
                <c:v>15.4</c:v>
              </c:pt>
            </c:numLit>
          </c:val>
        </c:ser>
        <c:ser>
          <c:idx val="1"/>
          <c:order val="1"/>
          <c:tx>
            <c:v>DeepSeek Chat</c:v>
          </c:tx>
          <c:spPr>
            <a:solidFill xmlns:a="http://schemas.openxmlformats.org/drawingml/2006/main">
              <a:srgbClr val="C0504D"/>
            </a:solidFill>
          </c:spPr>
          <c:cat>
            <c:strLit>
              <c:ptCount val="4"/>
              <c:pt idx="0">
                <c:v>Overall</c:v>
              </c:pt>
              <c:pt idx="1">
                <c:v>P1</c:v>
              </c:pt>
              <c:pt idx="2">
                <c:v>P2</c:v>
              </c:pt>
              <c:pt idx="3">
                <c:v>P3</c:v>
              </c:pt>
            </c:strLit>
          </c:cat>
          <c:val>
            <c:numLit>
              <c:formatCode>0.0</c:formatCode>
              <c:ptCount val="4"/>
              <c:pt idx="0">
                <c:v>28</c:v>
              </c:pt>
              <c:pt idx="1">
                <c:v>70</c:v>
              </c:pt>
              <c:pt idx="2">
                <c:v>22.2</c:v>
              </c:pt>
              <c:pt idx="3">
                <c:v>7.7</c:v>
              </c:pt>
            </c:numLit>
          </c:val>
        </c:ser>
        <c:ser>
          <c:idx val="2"/>
          <c:order val="2"/>
          <c:tx>
            <c:v>Qwen 3.7 Plus</c:v>
          </c:tx>
          <c:spPr>
            <a:solidFill xmlns:a="http://schemas.openxmlformats.org/drawingml/2006/main">
              <a:srgbClr val="7F8FA6"/>
            </a:solidFill>
          </c:spPr>
          <c:cat>
            <c:strLit>
              <c:ptCount val="4"/>
              <c:pt idx="0">
                <c:v>Overall</c:v>
              </c:pt>
              <c:pt idx="1">
                <c:v>P1</c:v>
              </c:pt>
              <c:pt idx="2">
                <c:v>P2</c:v>
              </c:pt>
              <c:pt idx="3">
                <c:v>P3</c:v>
              </c:pt>
            </c:strLit>
          </c:cat>
          <c:val>
            <c:numLit>
              <c:formatCode>0.0</c:formatCode>
              <c:ptCount val="4"/>
              <c:pt idx="0">
                <c:v>8</c:v>
              </c:pt>
              <c:pt idx="1">
                <c:v>0</c:v>
              </c:pt>
              <c:pt idx="2">
                <c:v>3.7</c:v>
              </c:pt>
              <c:pt idx="3">
                <c:v>23.1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0A0A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ASR (%)</a:t>
                </a:r>
              </a:p>
            </c:rich>
          </c:tx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5555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6E4F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F4E79"/>
                </a:solidFill>
              </a:rPr>
              <a:t>总体与分范式ASR（%）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F4E79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MiMo v2.5</c:v>
          </c:tx>
          <c:spPr>
            <a:solidFill xmlns:a="http://schemas.openxmlformats.org/drawingml/2006/main">
              <a:srgbClr val="2B5A83"/>
            </a:solidFill>
          </c:spPr>
          <c:cat>
            <c:strLit>
              <c:ptCount val="4"/>
              <c:pt idx="0">
                <c:v>Overall</c:v>
              </c:pt>
              <c:pt idx="1">
                <c:v>P1</c:v>
              </c:pt>
              <c:pt idx="2">
                <c:v>P2</c:v>
              </c:pt>
              <c:pt idx="3">
                <c:v>P3</c:v>
              </c:pt>
            </c:strLit>
          </c:cat>
          <c:val>
            <c:numLit>
              <c:formatCode>0.0</c:formatCode>
              <c:ptCount val="4"/>
              <c:pt idx="0">
                <c:v>32.1</c:v>
              </c:pt>
              <c:pt idx="1">
                <c:v>43.8</c:v>
              </c:pt>
              <c:pt idx="2">
                <c:v>22.5</c:v>
              </c:pt>
              <c:pt idx="3">
                <c:v>36.7</c:v>
              </c:pt>
            </c:numLit>
          </c:val>
        </c:ser>
        <c:ser>
          <c:idx val="1"/>
          <c:order val="1"/>
          <c:tx>
            <c:v>MiMo v2.5 Pro</c:v>
          </c:tx>
          <c:spPr>
            <a:solidFill xmlns:a="http://schemas.openxmlformats.org/drawingml/2006/main">
              <a:srgbClr val="C0504D"/>
            </a:solidFill>
          </c:spPr>
          <c:cat>
            <c:strLit>
              <c:ptCount val="4"/>
              <c:pt idx="0">
                <c:v>Overall</c:v>
              </c:pt>
              <c:pt idx="1">
                <c:v>P1</c:v>
              </c:pt>
              <c:pt idx="2">
                <c:v>P2</c:v>
              </c:pt>
              <c:pt idx="3">
                <c:v>P3</c:v>
              </c:pt>
            </c:strLit>
          </c:cat>
          <c:val>
            <c:numLit>
              <c:formatCode>0.0</c:formatCode>
              <c:ptCount val="4"/>
              <c:pt idx="0">
                <c:v>37.1</c:v>
              </c:pt>
              <c:pt idx="1">
                <c:v>33.3</c:v>
              </c:pt>
              <c:pt idx="2">
                <c:v>28.7</c:v>
              </c:pt>
              <c:pt idx="3">
                <c:v>44.1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333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55555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6E4F0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BE9ABB-19C4-404D-BBC7-A4C0E117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D463D3-15CA-4DA4-834E-9969E18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"/>
            <a:ext cx="12191695" cy="291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杭州电子科技大学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  ·  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智能物联实验室</a:t>
            </a:r>
            <a:r>
              <a:rPr sz="1300" b="0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 研究生组会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C11A9F-698D-4B7A-A2FC-CF6BBAA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22960"/>
            <a:ext cx="667512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5DE6FC-E992-4721-9987-05E2AD1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1567180"/>
            <a:ext cx="10226040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3A6B"/>
                </a:solidFill>
                <a:latin typeface="Arial"/>
                <a:ea typeface="Arial"/>
                <a:cs typeface="Arial"/>
              </a:rPr>
              <a:t>MCPTox: A Benchmark for Tool Poisoning</a:t>
            </a:r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3A6B"/>
                </a:solidFill>
                <a:latin typeface="Arial"/>
                <a:ea typeface="Arial"/>
                <a:cs typeface="Arial"/>
              </a:rPr>
              <a:t>Attack on Real-World MCP Servers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057D14-DF5A-43A3-B796-E3F4EF5C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2435"/>
            <a:ext cx="941832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666666"/>
                </a:solidFill>
              </a:rPr>
              <a:t>面向真实MCP服务器的工具投毒攻击基准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AF2BF3E-F3BC-4E31-88CC-E9681B92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1435" y="3731260"/>
            <a:ext cx="201168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8411CC1-624F-4AE0-971F-84B7538F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75" y="3731260"/>
            <a:ext cx="137160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B5A8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B8BD6F0-12ED-4318-880E-BE14156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9035" y="3731260"/>
            <a:ext cx="3657600" cy="38417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B5A8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465F134-5370-4153-9E77-155C96F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1435" y="3766185"/>
            <a:ext cx="2011680" cy="313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AAAI 2026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31D38F2-4622-4DB0-A938-88462B78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275" y="3766185"/>
            <a:ext cx="1371600" cy="349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CCF-A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4C061B7-E9E9-4FF3-9226-292EC3C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715" y="3766185"/>
            <a:ext cx="2864485" cy="313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USTC &amp; Beihang University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FFCC61-30A6-411F-999D-A318B49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" y="4505959"/>
            <a:ext cx="7273925" cy="7620"/>
          </a:xfrm>
          <a:custGeom xmlns:a="http://schemas.openxmlformats.org/drawingml/2006/main"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A9873E-9CE0-4D38-A6A7-27F1516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94555"/>
            <a:ext cx="941832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汇报人：徐雷    学号：262270059</a:t>
            </a:r>
          </a:p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导师：郑秋华副教授</a:t>
            </a:r>
          </a:p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日期：2026年7月29日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BE7FF2F-FE9E-4EFC-AAFC-5B2A3054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796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4421AC-7ED5-4B9F-8A2B-D3843481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 / 12</a:t>
            </a:r>
          </a:p>
        </p:txBody>
      </p:sp>
      <p:sp>
        <p:nvSpPr>
          <p:cNvPr id="24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39FAC0B-525D-4169-92F8-CB5F1ABC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743200" y="4505959"/>
            <a:ext cx="7273925" cy="7620"/>
          </a:xfrm>
          <a:custGeom xmlns:a="http://schemas.openxmlformats.org/drawingml/2006/main"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880008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695117-D766-4A66-BE4C-0CE387E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2EC123-5E13-4D62-BF49-E1AB99AF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文献基本信息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0BC4F0-C50C-488F-AEA6-824AFE7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45720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483E73-A5E1-4E9C-A536-12951E21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论文信息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0C8C49B-A4C9-451A-A635-D4297F4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4206240" cy="1478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会议：AAAI 2026（CCF-A）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作者：Zhiqiang Wang, Yichao Gao 等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机构：USTC &amp; Beihang University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发表日期：2026/06/01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关键词：MCP Security · Tool Poisoning · LLM Agent Safety</a:t>
            </a:r>
          </a:p>
          <a:p xmlns:a="http://schemas.openxmlformats.org/drawingml/2006/main">
            <a:pPr algn="l">
              <a:buNone/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代码：github.com/wwh0411/MCPTox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4BBA3A-B599-4CD2-8F9D-D4D4BC9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主要研究内容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F036FD-DE65-4A4E-AE4C-463BC31F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3360"/>
            <a:ext cx="42062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首个针对真实世界MCP服务器工具投毒攻击的安全基准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系统评测工具描述注入、权限逃逸与恶意负载执行风险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覆盖20个模型、3类攻击范式，平均ASR为36.5%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C90C657-EE0D-4E40-A4F3-BDD98A4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005840"/>
            <a:ext cx="667512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38CC9D-6DB3-4617-A954-7F1127F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971800"/>
            <a:ext cx="61264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1: Threat Model — 攻击链路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Attacker → Poisoned Tool Description → MCP Server → LLM Agent → Victim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7569436-4018-4216-96D8-E328CCD0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9F817E-E62F-466D-AE1F-1A4D319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核心贡献：定义MCP工具投毒威胁模型 + 构建真实服务器漏洞数据集 + 量化主流LLM的防御能力缺失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52D1ED-DCD4-47BA-8690-C503A76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78467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BE8FF2-FAE2-40A1-8FE2-55E28CF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8F2BE6-294C-4FFD-999C-8414C23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研究背景与安全挑战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D1A1E1-4D94-4FF2-B9BE-6682E19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84F924-73DE-43A6-ACC1-80931291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110642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Table 1: Attack Surface Comparison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传统API安全 vs MCP特有攻击面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信任边界：API密钥认证 vs 工具描述即指令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Description Injection：在描述中嵌入隐藏指令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Tool Shadowing：同名/相似名恶意工具覆盖合法工具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Rug Pull：运行时动态修改工具行为或参数语义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F5514B8-1650-448A-BBB6-CDB6DED7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43400"/>
            <a:ext cx="56692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CF6FB2-013E-413E-A408-CAB486C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537963F-3C67-44F9-AD85-28388AA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0EE4FD-B325-47BA-901C-E8156450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MCP标准化了LLM与外部工具的交互，但“工具描述即指令”引入新的信任边界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41D819E-A9AC-4CB2-9935-EA0D811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F0AF8B0-DE27-4EE9-877C-11690950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5780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现有研究多聚焦Prompt Injection，缺少对MCP工具元数据篡改的系统评测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228FA2-F014-4789-A0AD-56B8A3E3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343400"/>
            <a:ext cx="566928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E820162-ECE4-4CBC-9318-4C3E1632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研究意义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4204E12-1934-4076-973E-69FFA958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24AAE2-5AF4-4939-97E0-6C325FB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75488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首次将工具投毒从理论风险转化为可量化、可复现的实证基准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EB76B57-ABE1-4326-BF9C-E2F25FB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352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B524D5A-FD76-4092-9AB7-41FC608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57800"/>
            <a:ext cx="51023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揭示SOTA模型面对伪装成合法功能的恶意工具时几乎没有有效防御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B8EE52-FD23-4417-92F9-6E91265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9524815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E66076-8F26-4806-934F-25E10EBF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581F1-0FF3-415E-8C19-BB0E718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威胁模型：MCP工具投毒攻击分类学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5FA84D-E80F-470C-83AD-96B1BEA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6400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1937FC-BD51-4F8E-8986-ABF10B0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8521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Tool Poisoning Attack Taxonomy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P1 显式触发—功能劫持 → P2 隐式触发—功能劫持 → P3 隐式触发—参数篡改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设计原则：Trigger Condition + Malicious Action + Plausible Justification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样本规模：P1 224条 · P2 548条 · P3 725条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CBFB6DA-4F66-424C-8A12-4396E2E6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09728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方法要点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95BBEB-76E0-4C46-8341-AFD6994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0876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BA1C476-EC94-4F90-9DA2-58F3668F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攻击入口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AB569C-8F10-468B-AAD8-0C22FBA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82880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利用MCP Server注册机制或第三方工具市场审核缺失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E8CF8D-07E8-4513-9B10-A689008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8600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37A793-7B0A-471B-A1E7-C3F81D4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触发机制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55EAE8-4F61-41B1-A5D3-3EF7EB38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606039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依赖LLM对自然语言工具描述的过度遵从性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95A2A6B-FC13-43B0-97C8-F4BF69B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4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68C360-F0F2-4C00-80F8-FD9AF435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0896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载荷类型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C2D429-AED6-4502-A6E8-FA98D82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383279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数据窃取 / 越权操作 / 恶意代码执行 / 钓鱼诱导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700A24F-BBBE-43CF-AC6F-57FF1EAB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75488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89F1FEA-E558-4D56-A3E7-BD0736E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86200"/>
            <a:ext cx="475488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2B5A83"/>
                </a:solidFill>
                <a:latin typeface="微软雅黑"/>
                <a:ea typeface="微软雅黑"/>
                <a:cs typeface="微软雅黑"/>
              </a:rPr>
              <a:t>▸ 隐蔽性设计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BB6D60C-C1FE-469D-809C-708AAA40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160520"/>
            <a:ext cx="4480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零宽字符、Base64编码与语义混淆绕过简单检测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350E06A-09E0-4B50-92F8-4565C5E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B56F8BE-2154-4C25-9D3F-93CE74F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关键洞察：攻击利用自然语言接口的模糊性，打破代码级安全隔离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538D338-C077-4F4C-B6F8-4A201145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22663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36A685-96F4-454F-8C62-B20B0B81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F23E1-A0E7-46C4-B8F9-2ACF10E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基准构建：从真实服务器到攻击用例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A0022C6-9AB5-4A6A-962E-C46C520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C46584-C3C4-4EAA-842C-14F6DA8E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212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Benchmark Construction Pipeline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真实MCP服务器爬取 → 漏洞模式匹配 → 投毒工具生成 → 人工验证审核 → 测试套件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覆盖45+真实MCP Server，收集1497条原始工具定义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1CE38DD-A297-45B6-8077-044551F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169456-2990-4146-8DD1-7DF766D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9728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数据来源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CE626B4-635B-48AD-A8FA-FA767A55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5448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E451A3F-6891-4E52-8FD7-C449A55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0876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覆盖文件系统、数据库、Web API、智能家居等高风险类别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B64EE83-95A1-41A3-9902-CE99EAD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120850-F71D-499F-BF6D-18772B0B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96596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安全审计标记潜在描述注入点，形成真实工具基础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E1F1638-6495-47D6-801B-4BC746B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74720"/>
            <a:ext cx="5577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178684-6966-47CD-8B01-06F3BE4D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6616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用例生成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EF895B3-DE35-4735-9043-AADD3DB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335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FAD32C-5438-434B-9A8C-D2DBB7D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977639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GPT-4、Gemini-2.5辅助生成1497条投毒用例，保证语法合法与语义欺骗性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9341C18-F420-4DB2-B195-D812825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CCDB6D-CF5F-41AB-B1B8-148203A7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43484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每条用例附Ground Truth：预期安全行为 vs 实际受害行为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CF5B9786-D132-4A45-A65B-D5FF39F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37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B4C1A3-152B-491D-A248-BE8EEFB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892040"/>
            <a:ext cx="4919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人工验证恶意操作可执行，并消除幻觉参数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B616EBB-52C6-4203-8438-35BC867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E1CFC99-A197-4197-ADBA-2C521EC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数据质量：全部攻击用例经过可执行验证，而非纯文本构造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E1752C-B3F4-4C4C-9F70-BF937DB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8076663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FBB0F5C-711F-462E-BD6B-114A659F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7E72F7-9C31-4E49-A279-63E4A64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数据集统计与评估指标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5EC886-3EB4-4991-8747-89F3A5E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82CD924-379F-4E04-BDE7-F415BBB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2: 数据集统计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45+ MCP Server · 1497条投毒用例 · 20个SOTA模型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三类攻击范式：P1显式劫持 / P2隐式劫持 / P3参数篡改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结果标签：Success / Ignored / DirectExecution / Refused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DC61D20-4E35-4A8B-B67C-366B1D2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63440"/>
            <a:ext cx="116128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BECA0AA-F1CC-4431-A2B1-8DD1CBFE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实验设置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DE9ED3F-2B6B-409C-9A1C-E000401A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81ADBA6-AF2A-407D-AC60-AF917A4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规模：45+ MCP Server，1497条投毒用例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DBBB75F-253A-4A70-9A3D-4729A7F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811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5FE7DE-D7CC-4C71-A0EC-484EFC3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22392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模型：GPT-4o、Claude、Qwen3、Llama3、o1等20个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C0DF115-7502-4950-AA28-6FF8A11F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558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B35A47C-3813-47F3-AB67-5014BDF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9864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指标：Attack Success Rate（ASR）/ Refused Ratio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324EAA-6247-4DD8-8198-A914958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9B9C5C8-D5AF-41F5-8944-F656634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074920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评估：Execution-Based + 三类失败结果标签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81FBE9D-22D0-408E-94AD-F3115CD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6811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8C61D2-DF2F-4F50-BF62-CDCCAFF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422392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防御：Base / Enhanced 1 / Enhanced 2 三种设置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17A5A77-77E2-4637-81F8-FF52334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81558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2BBC246-7DFA-4DB2-86FF-35F8A197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769864"/>
            <a:ext cx="5285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执行验证结合语义判断，降低纯文本匹配的评估偏差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1BA1873-29F2-4990-AA3B-B4D9E4A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2993674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438EFE-3066-4B1C-B74B-256615B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CE9133-76C8-43DE-9A60-89C0ABE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主实验：SOTA模型对工具投毒的脆弱性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D4B45D-F764-4AAB-9BEB-FF0D9C5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CCEB69-62E6-4C65-8DE1-52AA12F8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Table 2: 各模型攻击成功率（ASR %）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o1-mini 72.8 · Phi-4 70.2 · DeepSeek-R1 70.9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GPT-4o-mini 61.8 · Qwen3-32B 58.5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Claude-3.7-Sonnet 34.3 · Mistral 8.3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0B10EBD-61A6-403A-9A5F-55531334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63440"/>
            <a:ext cx="1161288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E4594D-1EDB-46AB-8FE2-8616EB4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0A7852B-AA7D-426B-8E77-22E227A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10972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📊 整体脆弱性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39CAEF-A05D-418B-BA60-D9385F7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07492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所有模型ASR均 &gt; 8%；多个推理模型平均ASR超过70%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075E18C-31D9-4E4B-A88C-D056963B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239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📊 攻击类型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33EBD6-2AF5-462A-BAD3-5DADAF9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42239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P3参数篡改最危险：46.7% &gt; P1 36.7% &gt; P2 26.7%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9BB3BA-8D43-4C02-BBE8-ABDED3C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9864"/>
            <a:ext cx="10972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📊 逆缩放效应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DE2218A-F4F0-404D-8350-3A298B6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76986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更大模型或推理模式可能更易遵从恶意描述；Qwen3推理模式ASR +27.8%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A63FF5-C5B9-463A-BF02-728F371A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733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📊 防御效果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629A8EE-1546-4EB8-89F2-73EE785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117336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Enhanced prompts仅改善约2.0–2.6%，现有安全对齐几乎无效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C54CB53-88F1-43A0-AFB9-A99ECD0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6366277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A739A4-B52C-466A-AA8F-16F795F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408166-2C1C-4B1B-9E71-97D2123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失败模式分析与根因探究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0B10FB-E451-4B4A-9A82-CBC0B5F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912A5D-4332-48B0-B0B0-D5D819B5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12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6: 失败模式分布与拒绝率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主动拒绝比例极低：Claude-3.7-Sonnet最高仅2.3%，其他模型均 &lt; 3%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DirectExecution仍达18.9%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E7286C-7B2B-4A40-8E0F-1AFA69A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A7CEE5-0050-4F4E-91A5-A67C4C9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9728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失败归因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5AF994A-E41D-4F59-9D6A-923FEDD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BA3064-ACFD-4D3F-85D2-A44F6BB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5448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指令优先级混淆：把工具描述中的恶意指令当作系统级约束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021B659-3182-41C7-A31A-2A68ADD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945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73207D-85A2-43FE-8C12-52750C1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14884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上下文窗口污染：长工具列表稀释安全对齐信号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B72C710-4D33-4239-8F9C-8FB5BA1E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83280"/>
            <a:ext cx="5577840" cy="237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C928405-C687-4DB3-BE43-032D424E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0233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相关性分析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描述越长，越容易藏匿攻击指令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P3保持主功能不变，仅修改参数，最难察觉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更强推理能力可能增加对恶意描述的遵从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492096A-0B51-410D-95A5-935E415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B6E999-554E-46F9-88AF-6A9E62A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根因：安全对齐尚未覆盖“工具元数据”这一新模态，模型缺少怀疑机制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CAC9ED-9CC5-4098-B836-717AE86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475594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5F1E05-8B66-4400-9D83-9D0B984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563DD2-86BF-41EF-9597-C439558E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现有防御机制有效性评估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D86A19-1139-4E66-B923-A3DC363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6400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B014A4-326F-49F4-A3CC-65D61008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71800"/>
            <a:ext cx="58521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Figure 5: 不同攻击范式与增强设置下的ASR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Prompt Hardening：约2–3%降幅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Input Sanitization：语义级投毒检出率极低</a:t>
            </a:r>
          </a:p>
          <a:p xmlns:a="http://schemas.openxmlformats.org/drawingml/2006/main">
            <a:pPr algn="ctr">
              <a:spcBef>
                <a:spcPts val="600"/>
              </a:spcBef>
              <a:buNone/>
            </a:pPr>
            <a:r>
              <a:rPr sz="110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Fine-tuned Detector：效果中等但泛化能力差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624769-5D46-4E31-B7A9-0915FED4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097280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防御局限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373947F-88C1-482A-9797-3286F4A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3F8A29-2AC5-4D42-9488-87FC752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4592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458AFA-CC96-41B8-8876-30FAC4D0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3736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❌ Prompt工程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2D9EA6E-87A8-4317-BB96-FC5BE756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5740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易被自适应攻击绕过，并可能损害正常工具调用准确率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1354EAD-EF97-4545-BA03-52BB5442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97180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9FCA97-C8F0-4626-85A7-D3232EC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97180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388649-B5CC-44FB-B00F-AA2612A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06324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❌ 规则过滤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01CEF3-B10C-443A-B2C0-9737AE59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38328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难以识别“备份到恶意URL”等语义级投毒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AA97D3F-B664-43D3-8D31-CB38806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475488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44A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A101E6E-F2BF-4698-8E18-6C88F93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B57753-3B75-4DA1-9A02-FEEF50F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89120"/>
            <a:ext cx="43891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❌ 现有安全对齐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BAFA11-A3CB-4853-96FF-80F058C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09160"/>
            <a:ext cx="4389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主动拒绝率不足3%，工具元数据几乎处于防御盲区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2124AE-E132-4CF6-9921-2B7439BF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E629663-3CDF-4894-9D09-9725853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✅ 防御缺口：需要协议层运行时监控、工具签名验证与沙箱隔离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E4D1E74-C542-4B20-9235-FD2146D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8679843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F9F9B8-BAAB-4808-9C15-217221B3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F79524-1493-47F3-A416-D8210FF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小规模复现：50样本 × 3模型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A830B4-5EA5-4E26-BAD0-E60F162D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1161288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2700">
            <a:solidFill>
              <a:srgbClr val="D6E4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7" name="Table 4"/>
          <p:cNvGraphicFramePr/>
          <p:nvPr/>
        </p:nvGraphicFramePr>
        <p:xfrm>
          <a:off xmlns:a="http://schemas.openxmlformats.org/drawingml/2006/main" x="457200" y="1028700"/>
          <a:ext xmlns:a="http://schemas.openxmlformats.org/drawingml/2006/main" cx="11247120" cy="10287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/ 1,312（随机抽样）</a:t>
                      </a:r>
                    </a:p>
                  </a:txBody>
                  <a:tcPr marL="91440" marR="91440" marT="45720" marB="45720"/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MiMo v2.5 / DeepSeek Chat / Qwen 3.7 Plus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ASR / Refusal Rate</a:t>
                      </a:r>
                    </a:p>
                  </a:txBody>
                  <a:tcPr marL="91440" marR="91440" marT="45720" marB="45720"/>
                </a:tc>
              </a:tr>
              <a:tr h="1645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Inspect AI；目标模型兼任 Judge（compat mode）</a:t>
                      </a:r>
                    </a:p>
                  </a:txBody>
                  <a:tcPr marL="91440" marR="91440" marT="45720" marB="45720"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59226D-1615-4CA7-BF66-7402E01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66950"/>
            <a:ext cx="11612880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D7572DD-50A1-4E4E-8FBA-C2CBB6E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92963C4-7DB1-439A-AE29-BE8988D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00"/>
            <a:ext cx="116128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1270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D49B9-CDC1-4542-A809-AA2AD15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复现观察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6458CB-2209-48E2-AA8A-ACB0F51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DeepSeek Chat总体ASR最高，并在P1显式劫持上达到70.0%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Qwen 3.7 Plus在P1未出现成功攻击，但在P3参数篡改上达到23.1%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主动拒绝率整体较低；P1/P2/P3样本量仅10/27/13，结果应视为探索性证据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4AED388-A7ED-493D-AE81-10AE7285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10 / 12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6eec49a1e3414b"/>
          </a:graphicData>
        </a:graphic>
      </p:graphicFrame>
    </p:spTree>
    <p:extLst>
      <p:ext uri="{BB962C8B-B14F-4D97-AF65-F5344CB8AC3E}">
        <p14:creationId xmlns:p14="http://schemas.microsoft.com/office/powerpoint/2010/main" val="11868104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1EEE69-48A5-4D87-AFCA-63E482FD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"/>
            <a:ext cx="12191695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5A82B6-3D41-43FA-9692-4C86737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扩展复现：300样本 × 2模型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3B3AB15-6100-4CA9-BFA5-5BEB4FA6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05840"/>
            <a:ext cx="576072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A0A0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080D8C-4E7C-4DE2-AFD3-078477BD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5303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300样本 × 2模型扩展实验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B2EC31-1DC4-494E-A91C-8D16266F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MiMo v2.5 与 MiMo v2.5 Pro｜ASR分母排除Invalid响应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097DE3-4006-45B6-BDA9-B131A3B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539496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0A0A0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B835C0-5E83-4E9D-A77E-1A7547C5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BED47C2-B8A0-42BC-8B70-6F7A05CE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005840"/>
            <a:ext cx="557784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  <a:ln xmlns:a="http://schemas.openxmlformats.org/drawingml/2006/main" w="12700">
            <a:solidFill>
              <a:srgbClr val="ED7D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C805665-0A4C-4F4D-88E7-7B4AE88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51560"/>
            <a:ext cx="5303520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主要发现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E0192E-D8A0-45C8-80DE-13DE4B40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51206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Pro总体ASR更高：37.1% vs 32.1%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差异随范式变化：Pro在P1更低，在P2/P3更高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两模型拒绝率均低于2%，主动安全响应仍然有限</a:t>
            </a:r>
          </a:p>
          <a:p xmlns:a="http://schemas.openxmlformats.org/drawingml/2006/main">
            <a:pPr algn="l">
              <a:buNone/>
            </a:pPr>
            <a:r>
              <a:rPr sz="1100" b="0">
                <a:solidFill>
                  <a:srgbClr val="A0A0A0"/>
                </a:solidFill>
                <a:latin typeface="微软雅黑"/>
                <a:ea typeface="微软雅黑"/>
                <a:cs typeface="微软雅黑"/>
              </a:rPr>
              <a:t>• ASR均按Success / (Total − Invalid)重算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35EB842-9E7B-4C1A-B347-276AFDF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49039"/>
            <a:ext cx="1161288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19050">
            <a:solidFill>
              <a:srgbClr val="1F4E7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BDFACB-38AD-45AE-A1E6-89B295EF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高风险类别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74DCF1F-5933-4186-B718-DCDB7DC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① Credential Leakage：27.5% vs 44.2%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94E0C8A-7FEF-43EA-A003-9DC0490A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59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② Service Disruption：42.9% vs 53.2%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B24B6C-E901-4A19-8BBA-7247C42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599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③ P3参数篡改：36.7% vs 44.1%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2B2B72D-1C67-4789-BBD1-9C42D8C1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4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实验限制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8199B1BB-6C30-48F6-B398-186903A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624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8B9EDDF-033A-480F-A9B1-DFCDC320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160520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目标模型兼任Judge，可能引入自评偏差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585DA2AA-6402-46ED-9738-3C44182A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7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EFAAE8-8FED-4231-8491-4E0852F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480559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50与300样本实验的模型集合不同，不宜直接纵向比较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F1CC6EFC-4852-4638-BD9B-B4EDB43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19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EAB5DFE-B8EA-4F83-832C-B1E7F62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800599"/>
            <a:ext cx="5102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结果用于复现验证，不宣称严格跨模型公平比较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1C821C6-68D9-4B5A-A577-8F908CB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11 / 12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552450" y="1752600"/>
          <a:ext xmlns:a="http://schemas.openxmlformats.org/drawingml/2006/main" cx="5219700" cy="1714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9842ce937847b2"/>
          </a:graphicData>
        </a:graphic>
      </p:graphicFrame>
    </p:spTree>
    <p:extLst>
      <p:ext uri="{BB962C8B-B14F-4D97-AF65-F5344CB8AC3E}">
        <p14:creationId xmlns:p14="http://schemas.microsoft.com/office/powerpoint/2010/main" val="17564539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5E69ED-67E3-43BB-95E1-D772E070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26AB5D-99FB-4B86-9F3C-8EA01A22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"/>
            <a:ext cx="667512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1225B43-B9C6-4F4E-9605-EFD74D8F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0080"/>
            <a:ext cx="94183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感谢聆听 · 欢迎讨论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558AAE-85BE-4CFD-A3D6-A11BCE9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63040"/>
            <a:ext cx="9418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 i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Thank You · Q &amp; 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8AA831-A6B6-44F0-AEE4-991621C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11680"/>
            <a:ext cx="393192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8A4496-6B4E-4248-B9A0-73BDB77F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9418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核心参考文献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48C154B-F989-4CE7-A38B-6B715F7C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1760"/>
            <a:ext cx="94183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[1] Wang, Z., Gao, Y. et al. MCPTox: A Benchmark for Tool Poisoning Attack on Real-World MCP Servers. AAAI 2026.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[2] Anthropic. Model Context Protocol Specification. 2024.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[3] Yao et al. ReAct: Synergizing Reasoning and Acting in Language Models. ICLR 2023.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[4] Patil et al. Gorilla: Large Language Model Connected with Massive APIs. NeurIPS 2023.</a:t>
            </a:r>
          </a:p>
          <a:p xmlns:a="http://schemas.openxmlformats.org/drawingml/2006/main">
            <a:pPr algn="l">
              <a:lnSpc>
                <a:spcPts val="2200"/>
              </a:lnSpc>
              <a:buNone/>
            </a:pPr>
            <a:r>
              <a:rPr sz="12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[5] 可补充复现实验中使用的模型与安全评测文献。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366C47-A0E0-4EFD-900A-D708E23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37760"/>
            <a:ext cx="3931920" cy="7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A0A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121BE9-7131-4CEA-96EF-FA0471B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0640"/>
            <a:ext cx="94183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论文代码：github.com/wwh0411/MCPTox</a:t>
            </a:r>
          </a:p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复现代码/数据：[你的仓库链接]</a:t>
            </a:r>
          </a:p>
          <a:p xmlns:a="http://schemas.openxmlformats.org/drawingml/2006/main">
            <a:pPr algn="ctr">
              <a:lnSpc>
                <a:spcPts val="2000"/>
              </a:lnSpc>
              <a:buNone/>
            </a:pPr>
            <a:r>
              <a:rPr sz="1100" b="0">
                <a:solidFill>
                  <a:srgbClr val="A0A0A0"/>
                </a:solidFill>
                <a:latin typeface="Times New Roman"/>
                <a:ea typeface="Times New Roman"/>
                <a:cs typeface="Times New Roman"/>
              </a:rPr>
              <a:t>汇报人邮箱：xxx@xxx.edu.cn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7523E6-84F7-4217-AF21-D572D712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796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A5B81D-7393-4C58-BEEB-11A9A1CA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922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0A0A0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845819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2026-07-25T04:58:21.6050000Z</dcterms:created>
  <dcterms:modified xsi:type="dcterms:W3CDTF">2026-07-25T04:58:21.6050000Z</dcterms:modified>
</coreProperties>
</file>