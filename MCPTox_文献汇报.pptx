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3A5C"/>
                </a:solidFill>
                <a:latin typeface="Arial"/>
              </a:rPr>
              <a:t>(a) 攻击范式分布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Attack Paradigm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bubble3D val="0"/>
            <c:spPr>
              <a:solidFill>
                <a:srgbClr val="1B3A5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P1: Explicit
Trigger</c:v>
                </c:pt>
                <c:pt idx="1">
                  <c:v>P2: Implicit
Function</c:v>
                </c:pt>
                <c:pt idx="2">
                  <c:v>P3: Implicit
Param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224</c:v>
                </c:pt>
                <c:pt idx="1">
                  <c:v>548</c:v>
                </c:pt>
                <c:pt idx="2">
                  <c:v>725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3A5C"/>
                </a:solidFill>
                <a:latin typeface="Arial"/>
              </a:rPr>
              <a:t>(b) 目标Server类别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Server数量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File
System</c:v>
                  </c:pt>
                  <c:pt idx="1">
                    <c:v>Database</c:v>
                  </c:pt>
                  <c:pt idx="2">
                    <c:v>Web
API</c:v>
                  </c:pt>
                  <c:pt idx="3">
                    <c:v>Smart
Home</c:v>
                  </c:pt>
                  <c:pt idx="4">
                    <c:v>Email</c:v>
                  </c:pt>
                  <c:pt idx="5">
                    <c:v>Social
Media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8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3A5C"/>
                </a:solidFill>
                <a:latin typeface="Arial"/>
              </a:rPr>
              <a:t>(c) 攻击描述长度分布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Short
(&lt;50)</c:v>
                  </c:pt>
                  <c:pt idx="1">
                    <c:v>Medium
(50-150)</c:v>
                  </c:pt>
                  <c:pt idx="2">
                    <c:v>Long
(&gt;150)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312</c:v>
                </c:pt>
                <c:pt idx="1">
                  <c:v>685</c:v>
                </c:pt>
                <c:pt idx="2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3A5C"/>
                </a:solidFill>
                <a:latin typeface="Arial"/>
              </a:rPr>
              <a:t>(d) 载荷危害等级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Data
Exfil</c:v>
                  </c:pt>
                  <c:pt idx="1">
                    <c:v>Privilege
Escalation</c:v>
                  </c:pt>
                  <c:pt idx="2">
                    <c:v>Code
Exec</c:v>
                  </c:pt>
                  <c:pt idx="3">
                    <c:v>Phishing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</c:v>
                </c:pt>
                <c:pt idx="1">
                  <c:v>380</c:v>
                </c:pt>
                <c:pt idx="2">
                  <c:v>340</c:v>
                </c:pt>
                <c:pt idx="3">
                  <c:v>257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Claude-3.7</c:v>
                  </c:pt>
                  <c:pt idx="1">
                    <c:v>Qwen3-8b</c:v>
                  </c:pt>
                  <c:pt idx="2">
                    <c:v>Llama-3.1-8B</c:v>
                  </c:pt>
                  <c:pt idx="3">
                    <c:v>Gemma-2-9b</c:v>
                  </c:pt>
                  <c:pt idx="4">
                    <c:v>Mistral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34.3</c:v>
                </c:pt>
                <c:pt idx="1">
                  <c:v>14</c:v>
                </c:pt>
                <c:pt idx="2">
                  <c:v>14.1</c:v>
                </c:pt>
                <c:pt idx="3">
                  <c:v>14.5</c:v>
                </c:pt>
                <c:pt idx="4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Ignored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Claude-3.7</c:v>
                  </c:pt>
                  <c:pt idx="1">
                    <c:v>Qwen3-8b</c:v>
                  </c:pt>
                  <c:pt idx="2">
                    <c:v>Llama-3.1-8B</c:v>
                  </c:pt>
                  <c:pt idx="3">
                    <c:v>Gemma-2-9b</c:v>
                  </c:pt>
                  <c:pt idx="4">
                    <c:v>Mistral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48.2</c:v>
                </c:pt>
                <c:pt idx="1">
                  <c:v>68.5</c:v>
                </c:pt>
                <c:pt idx="2">
                  <c:v>62.3</c:v>
                </c:pt>
                <c:pt idx="3">
                  <c:v>65.8</c:v>
                </c:pt>
                <c:pt idx="4">
                  <c:v>78.4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DirectExec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Claude-3.7</c:v>
                  </c:pt>
                  <c:pt idx="1">
                    <c:v>Qwen3-8b</c:v>
                  </c:pt>
                  <c:pt idx="2">
                    <c:v>Llama-3.1-8B</c:v>
                  </c:pt>
                  <c:pt idx="3">
                    <c:v>Gemma-2-9b</c:v>
                  </c:pt>
                  <c:pt idx="4">
                    <c:v>Mistral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15.2</c:v>
                </c:pt>
                <c:pt idx="1">
                  <c:v>14.8</c:v>
                </c:pt>
                <c:pt idx="2">
                  <c:v>20.1</c:v>
                </c:pt>
                <c:pt idx="3">
                  <c:v>17.2</c:v>
                </c:pt>
                <c:pt idx="4">
                  <c:v>11.8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Refused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Claude-3.7</c:v>
                  </c:pt>
                  <c:pt idx="1">
                    <c:v>Qwen3-8b</c:v>
                  </c:pt>
                  <c:pt idx="2">
                    <c:v>Llama-3.1-8B</c:v>
                  </c:pt>
                  <c:pt idx="3">
                    <c:v>Gemma-2-9b</c:v>
                  </c:pt>
                  <c:pt idx="4">
                    <c:v>Mistral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2.3</c:v>
                </c:pt>
                <c:pt idx="1">
                  <c:v>2.7</c:v>
                </c:pt>
                <c:pt idx="2">
                  <c:v>3.5</c:v>
                </c:pt>
                <c:pt idx="3">
                  <c:v>2.5</c:v>
                </c:pt>
                <c:pt idx="4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5C"/>
                </a:solidFill>
                <a:latin typeface="Arial"/>
              </a:defRPr>
            </a:pPr>
            <a:r>
              <a:rPr sz="900" b="0" i="0" u="none" strike="noStrike">
                <a:solidFill>
                  <a:srgbClr val="1B3A5C"/>
                </a:solidFill>
                <a:latin typeface="Arial"/>
              </a:rPr>
              <a:t>Average ASR (%) by Attack Paradigm &amp; Setting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Setting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24.5</c:v>
                </c:pt>
                <c:pt idx="1">
                  <c:v>26.8</c:v>
                </c:pt>
                <c:pt idx="2">
                  <c:v>43.3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Enhanced 1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26.3</c:v>
                </c:pt>
                <c:pt idx="1">
                  <c:v>27.8</c:v>
                </c:pt>
                <c:pt idx="2">
                  <c:v>46.2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Enhanced 2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26.8</c:v>
                </c:pt>
                <c:pt idx="1">
                  <c:v>29.1</c:v>
                </c:pt>
                <c:pt idx="2">
                  <c:v>47.8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文献基本信息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34747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3566160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会议/期刊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AAAI 2026 (CCF-A)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Zhiqiang Wang, Yichao Gao 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682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682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USTC &amp; Beihang University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066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发表日期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066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2026/06/01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450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MCP Security, Tool Poisoning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Attack, LLM Agent Safety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github.com/wwh0411/MCPTox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246120"/>
            <a:ext cx="3017520" cy="9601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主要研究内容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首个针对真实世界MCP服务器工具投毒攻击的安全基准，揭示了MCP协议在工具描述注入、权限逃逸及恶意负载执行方面的系统性脆弱性。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822960"/>
            <a:ext cx="46634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0" y="868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1: Threat Model — 攻击链路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1463040"/>
            <a:ext cx="82296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0" y="1463040"/>
            <a:ext cx="822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6636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4960" y="1463040"/>
            <a:ext cx="822960" cy="109728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0" y="1463040"/>
            <a:ext cx="822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Poisoned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Description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投毒工具描述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1463040"/>
            <a:ext cx="822960" cy="10972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1463040"/>
            <a:ext cx="822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恶意服务器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7804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06640" y="1463040"/>
            <a:ext cx="822960" cy="1097280"/>
          </a:xfrm>
          <a:prstGeom prst="rect">
            <a:avLst/>
          </a:prstGeom>
          <a:solidFill>
            <a:srgbClr val="2C5F8A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06640" y="1463040"/>
            <a:ext cx="822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大模型代理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8388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66760" y="1463040"/>
            <a:ext cx="82296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66760" y="1463040"/>
            <a:ext cx="822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Victim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受害者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89120" y="2743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攻击流程：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攻击者在MCP Server注册阶段嵌入恶意工具描述 → LLM解析元数据时将恶意指令视为合法约束 → 操纵Agent执行数据窃取/越权操作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89120" y="3383280"/>
            <a:ext cx="118872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0" y="3401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20个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38912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60720" y="3383280"/>
            <a:ext cx="118872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5760720" y="3401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3类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76072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攻击范式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132320" y="3383280"/>
            <a:ext cx="118872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0" y="3401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36.5%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13232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平均ASR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核心贡献：定义MCP工具投毒威胁模型 + 构建真实服务器漏洞数据集 + 量化评估主流LLM对投毒攻击的防御能力缺失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研究背景与安全挑战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1: Attack Surface Comparison — 传统API安全 vs MCP特有攻击面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92608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攻击维度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传统API安全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MCP工具投毒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风险等级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信任边界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API密钥认证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工具描述=指令（无验证）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Description Injection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描述注入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在tool description中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嵌入隐藏指令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 Shadowing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工具影子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API端点伪造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注册同名/相似名恶意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工具覆盖合法工具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Rug Pull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地毯式替换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运行时动态修改工具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行为/参数语义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383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383280"/>
            <a:ext cx="54864" cy="1188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MCP协议标准化了LLM与外部工具的交互，但“工具描述即指令”的设计范式引入了新的信任边界问题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现有安全研究聚焦Prompt Injection，缺乏针对MCP架构下工具元数据被篡改的系统性评测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3383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338328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首次将“工具投毒”从理论风险转化为可量化、可复现的实证基准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揭示SOTA模型在面对伪装成合法功能的恶意工具时几乎无防御能力，为MCP安全加固提供依据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核心痛点：MCP的信任假设（工具描述可信）在开放生态中不成立，亞需安全基准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威胁模型：MCP工具投毒攻击分类学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7548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攻击分类树状图 (Taxonomy)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280160"/>
            <a:ext cx="219456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Poisoning Attack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工具投毒攻击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0" cy="36576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03120"/>
            <a:ext cx="274320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0" cy="27432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103120"/>
            <a:ext cx="0" cy="27432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103120"/>
            <a:ext cx="0" cy="27432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77440"/>
            <a:ext cx="1371600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P1: Explicit Trigger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Hijacking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显式触发-功能劫持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用户直接查询时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劫持功能调用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2377440"/>
            <a:ext cx="1371600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P2: Implicit Trigger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Hijacking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隐式触发-功能劫持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1168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关联操作时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隐式触发恶意行为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0" y="2377440"/>
            <a:ext cx="13716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P3: Implicit Trigger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Parameter Tampering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隐式触发-参数篡改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修改合法工具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参数语义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4389120" cy="6400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947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Principles: Trigger Condition + Malicious Action + Plausible Justification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恶意载必须可由合法工具执行，确保隐蔽性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49240" y="822960"/>
            <a:ext cx="34290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868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方法要点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32120" y="1234440"/>
            <a:ext cx="3063240" cy="7772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攻击入口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14904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利用MCP server注册机制或第三方工具市场审核缺失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2075688"/>
            <a:ext cx="3063240" cy="7772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2075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2075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触发机制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依赖LLM对自然语言描述的过度遵从性（Over-reliance）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2916936"/>
            <a:ext cx="3063240" cy="7772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29169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60720" y="2916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载荷类型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数据窃取 / 越权操作 / 恶意代码执行 / 钓鱼诱导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3758184"/>
            <a:ext cx="3063240" cy="77724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41" name="Text 39"/>
          <p:cNvSpPr/>
          <p:nvPr/>
        </p:nvSpPr>
        <p:spPr>
          <a:xfrm>
            <a:off x="5532120" y="37581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B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60720" y="3758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隐蔽性设计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使用Unicode零宽字符、Base64编码、语义混淆绕过简单检测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32120" y="3794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攻击样本统计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32120" y="4041648"/>
            <a:ext cx="9144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5532120" y="4041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224条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56248" y="4041648"/>
            <a:ext cx="9144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6556248" y="4041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548条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80376" y="4041648"/>
            <a:ext cx="9144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0" name="Text 48"/>
          <p:cNvSpPr/>
          <p:nvPr/>
        </p:nvSpPr>
        <p:spPr>
          <a:xfrm>
            <a:off x="7580376" y="4041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725条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关键洞察：攻击本质是利用“自然语言接口”的模糊性打破代码级安全隔离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基准构建：从真实服务器到攻击用例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Construction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347472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80160"/>
            <a:ext cx="3474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MCP Servers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Crawling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真实MCP服务器爬取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3474720" cy="54864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3474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Vulnerability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Pattern Matching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漏洞模式匹配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651760"/>
            <a:ext cx="3474720" cy="548640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51760"/>
            <a:ext cx="3474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Poisoned 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投毒工具生成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3474720" cy="5486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人工验证审核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840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347472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Suite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测试套件输出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8229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822960"/>
            <a:ext cx="54864" cy="1691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868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1430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覆盖45+个真实MCP Server（涵盖文件系统、数据库、Web API、智能家居等高风险类别）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收集1497条原始工具定义，经安全审计标记潜在注入点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697480"/>
            <a:ext cx="37490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697480"/>
            <a:ext cx="54864" cy="1874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用例生成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SOTA LLM (GPT-4, Gemini-2.5) 辅助生成1497条投毒用例，确保语法合法且语义具有欺骗性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每条用例附带Ground Truth（预期安全行为 vs 实际受害行为）用于自动评估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人工审核验证：确保恶意操作可由合法工具执行 + 消除幻觉参数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数据质量：所有攻击用例均通过可执行验证，非纯文本构造，确保评测真实性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数据集统计与评估指标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2: 数据集统计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8872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2560320" y="118872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4663440" y="118872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3" descr=""/>
          <p:cNvGraphicFramePr/>
          <p:nvPr/>
        </p:nvGraphicFramePr>
        <p:xfrm>
          <a:off x="6766560" y="118872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Shape 5"/>
          <p:cNvSpPr/>
          <p:nvPr/>
        </p:nvSpPr>
        <p:spPr>
          <a:xfrm>
            <a:off x="365760" y="347472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Text 6"/>
          <p:cNvSpPr/>
          <p:nvPr/>
        </p:nvSpPr>
        <p:spPr>
          <a:xfrm>
            <a:off x="548640" y="34930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48640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109728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45+ MCP Server, 1497条投毒用例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2926080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347472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20个SOTA模型 (GPT-4o, Claude, Qwen3, Llama3, o1等)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5486400" y="3749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603504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/ Refused Ratio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评估方式：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Execution-Based（验证恶意载荷是否被执行）+ 三类结果标签（Success / Failure-Ignored / Failure-DirectExecution / Failure-Refused）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防御配置：</a:t>
            </a:r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Setting（无防护） vs Enhanced Setting 1（Ignore previous instructions） vs Enhanced Setting 2（Strictly adhere to following）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评估严谨性：结合执行验证与语义判断，避免仅靠文本匹配导致的评估偏差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主实验：SOTA模型对工具投毒的脆弱性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2: 各模型攻击成功率 (ASR %)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Agent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P1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P2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P3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Avg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o1-mini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43.6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56.7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90.2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72.8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Phi-4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45.5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65.5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81.3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70.2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DeepSeek-R1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38.7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57.1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79.7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70.9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GPT-4o-mini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43.1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43.4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68.3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61.8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Qwen3-32b#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47.7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42.4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65.0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58.5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Claude-3.7-Sonnet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25.9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42.2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47.7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34.3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Mistral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1.8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10.2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8.3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47472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4930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整体脆弱性：所有模型ASR均 &gt; 8%，o1-mini/Phi-4/DeepSeek-R1 ASR &gt; 70%，Claude-3.7最优但仍达34.3%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395935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攻击类型差异：P3 (参数篡改, 46.7%) &gt; P1 (显式劫持, 36.7%) &gt; P2 (隐式劫持, 26.7%)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416966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逆缩放效应：更大参数模型/开启推理模式反而ASR更高（Qwen3开启推理后ASR +27.8%）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8640" y="4379976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防御效果有限：Enhanced hijack prompts仅提升ASR 2.0-2.6%，安全对齐机制几乎无效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严峻现实：当前LLM无法有效区分“合法工具描述”与“伪装指令”，现有防御手段收效甚微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失败模式分析与根因探究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6: 失败模式分布与拒绝率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188720"/>
          <a:ext cx="42062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337560"/>
            <a:ext cx="4023360" cy="10972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383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关键发现：Refused（主动防御）仅占极小比例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最高拒绝率：Claude-3.7-Sonnet仅2.3%，其他模型均 &lt; 3%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主要失败原因：Ignored（未受影响）占多数，但DirectExecution仍达18.9%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安全对齐未覆盖“工具元数据”这一新模态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029200" y="82296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822960"/>
            <a:ext cx="54864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5257800" y="868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失败归因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57800" y="11430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指令优先级混淆：模型将工具描述中的恶意指令视为“系统级约束”而非“用户输入”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上下文窗口污染：长工具列表导致安全对齐被稀释（Safety Alignment Dilution）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逆缩放现象：更强推理能力反而增加对恶意描述的遵从性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29200" y="283464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2834640"/>
            <a:ext cx="54864" cy="1737360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17" name="Text 14"/>
          <p:cNvSpPr/>
          <p:nvPr/>
        </p:nvSpPr>
        <p:spPr>
          <a:xfrm>
            <a:off x="5257800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相关性分析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57800" y="3154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工具描述长度与ASR正相关：长描述更易藏匿攻击指令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P3参数篡改最隐蔽：主功能调用一致，仅修改参数，模型难以察觉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 prompts效果有限：经典hijack提示仅提升ASR 2-3%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根因定位：安全对齐未覆盖“工具元数据”这一新模态，模型缺乏对工具描述的“怀疑机制”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 现有防御机制有效性评估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7548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5: 不同攻击范式与增强设置下的ASR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234440"/>
          <a:ext cx="4389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474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防御策略效果对比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4389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8288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防御策略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ASR降幅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副作用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Prompt Hardening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~2-3%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损害工具调用准确率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 Sanitization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语义级投毒无法检出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Fine-tuned Detector</a:t>
                      </a:r>
                      <a:endParaRPr lang="en-US" sz="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泛化能力差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349240" y="822960"/>
            <a:ext cx="34290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532120" y="868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防御局限性分析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32120" y="1234440"/>
            <a:ext cx="3063240" cy="7772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3" name="Text 9"/>
          <p:cNvSpPr/>
          <p:nvPr/>
        </p:nvSpPr>
        <p:spPr>
          <a:xfrm>
            <a:off x="5623560" y="12527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Prompt工程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623560" y="14721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易被自适应攻击绕过，且损害工具调用准确率。经典hijack提示仅提升ASR 2-3%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532120" y="2075688"/>
            <a:ext cx="3063240" cy="7772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6" name="Text 12"/>
          <p:cNvSpPr/>
          <p:nvPr/>
        </p:nvSpPr>
        <p:spPr>
          <a:xfrm>
            <a:off x="5623560" y="20939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规则过滤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623560" y="2313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对语义级投毒（如“请帮我备份文件到[恶意URL]”）检出率极低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532120" y="2916936"/>
            <a:ext cx="3063240" cy="7772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9" name="Text 15"/>
          <p:cNvSpPr/>
          <p:nvPr/>
        </p:nvSpPr>
        <p:spPr>
          <a:xfrm>
            <a:off x="5623560" y="293522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微调检测器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62356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需要大量标注数据，泛化到新工具/新攻击模式能力差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532120" y="3758184"/>
            <a:ext cx="3063240" cy="7772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22" name="Text 18"/>
          <p:cNvSpPr/>
          <p:nvPr/>
        </p:nvSpPr>
        <p:spPr>
          <a:xfrm>
            <a:off x="5623560" y="377647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现有安全对齐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623560" y="39959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 &lt; 3% 的攻击被主动拒绝（Refused），安全机制几乎完全失效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防御缺口：亞需原生集成于MCP协议层的运行时监控与工具签名验证机制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源码复现验证：50样本 × 3模型对比实验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41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50条（随机/分层抽样）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51760" y="841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1024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[模型A] / [模型B] / [模型C]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0" y="841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评估方式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1024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/ Refused Ratio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0" y="8412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0" y="1024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MCPTox官方框架 + Docker隔离沙箱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645920"/>
            <a:ext cx="8412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1828800"/>
            <a:ext cx="7315200" cy="1920240"/>
          </a:xfrm>
          <a:prstGeom prst="rect">
            <a:avLst/>
          </a:prstGeom>
          <a:ln w="19050">
            <a:solidFill>
              <a:srgbClr val="E0E4E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（此处插入你的实验结果图表）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建议：横轴=3个模型，纵轴=ASR/Refused Ratio 分组柱状图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或按攻击类型（P1/P2/P3）细分的分组柱状图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待填写结论：</a:t>
            </a:r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• [与论文Table 2中对应模型数据的对比，是否一致/偏差多大]  • [三个模型间的相对排序是否与论文一致]  • [观察到的典型失败case或有趣现象]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此页为预留页，图表和结论待你跑完实验后填入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扩展验证与文献总结反思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A7BB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扩展实验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设置：[X]条增强样本（含组合攻击/多跳投毒）+ [模型D/E]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749040" cy="1188720"/>
          </a:xfrm>
          <a:prstGeom prst="rect">
            <a:avLst/>
          </a:prstGeom>
          <a:ln w="12700">
            <a:solidFill>
              <a:srgbClr val="E0E4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（此处插入实验结果图表）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预留结论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[待填写：组合攻击是否产生1+1&gt;2的突破效果]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[待填写：大样本下防御策略的鲁棒性变化]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3A7B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[待填写：两模型差异在扩大样本后是否更显著]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971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文献总结与思考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840480" cy="12344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10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首次系统化定义并量化MCP工具投毒攻击面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构建基于真实服务器的可执行安全基准（非合成数据）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揭示“工具描述”作为新型攻击载体的独特危险性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3291840"/>
            <a:ext cx="4023360" cy="1234440"/>
          </a:xfrm>
          <a:prstGeom prst="rect">
            <a:avLst/>
          </a:prstGeom>
          <a:solidFill>
            <a:srgbClr val="FEF3E2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310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局限与改进方向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354787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基准覆盖的工具类型仍有限，未涵盖支付/医疗等高危领域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攻击载荷为半自动生成，非针对特定防御优化的自适应攻击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未来应研究MCP协议层原生安全机制（工具签名、沙箱隔离）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此页上半部分为预留页，待你跑完扩展实验后填入图表和结论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MCPTox: A Benchmark for Tool Poisoning Attack on Real-World MCP Servers</dc:title>
  <dc:subject>PptxGenJS Presentation</dc:subject>
  <dc:creator>徐雷</dc:creator>
  <cp:lastModifiedBy>徐雷</cp:lastModifiedBy>
  <cp:revision>1</cp:revision>
  <dcterms:created xsi:type="dcterms:W3CDTF">2026-07-24T18:37:17Z</dcterms:created>
  <dcterms:modified xsi:type="dcterms:W3CDTF">2026-07-24T18:37:17Z</dcterms:modified>
</cp:coreProperties>
</file>