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727d9337a74360" /><Relationship Type="http://schemas.openxmlformats.org/officeDocument/2006/relationships/extended-properties" Target="/docProps/app.xml" Id="R14e73edb201f42ec" /><Relationship Type="http://schemas.openxmlformats.org/officeDocument/2006/relationships/officeDocument" Target="/ppt/presentation.xml" Id="R7adf361e236b42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2e656c1abb4506"/>
  </p:sldMasterIdLst>
  <p:notesMasterIdLst>
    <p:notesMasterId xmlns:r="http://schemas.openxmlformats.org/officeDocument/2006/relationships" r:id="R3d86ce76ae624219"/>
  </p:notesMasterIdLst>
  <p:sldIdLst>
    <p:sldId xmlns:r="http://schemas.openxmlformats.org/officeDocument/2006/relationships" id="256" r:id="R826d5653c0ab492d"/>
    <p:sldId xmlns:r="http://schemas.openxmlformats.org/officeDocument/2006/relationships" id="257" r:id="R76215323626341c2"/>
    <p:sldId xmlns:r="http://schemas.openxmlformats.org/officeDocument/2006/relationships" id="258" r:id="Re9f3dbfb8630440c"/>
    <p:sldId xmlns:r="http://schemas.openxmlformats.org/officeDocument/2006/relationships" id="259" r:id="Rff5412e484d44371"/>
    <p:sldId xmlns:r="http://schemas.openxmlformats.org/officeDocument/2006/relationships" id="260" r:id="Ref3d79766040424f"/>
    <p:sldId xmlns:r="http://schemas.openxmlformats.org/officeDocument/2006/relationships" id="261" r:id="R10179f387ab643b3"/>
    <p:sldId xmlns:r="http://schemas.openxmlformats.org/officeDocument/2006/relationships" id="262" r:id="R6cd58c00d8fd43f0"/>
    <p:sldId xmlns:r="http://schemas.openxmlformats.org/officeDocument/2006/relationships" id="263" r:id="R45744529730c4ca7"/>
    <p:sldId xmlns:r="http://schemas.openxmlformats.org/officeDocument/2006/relationships" id="264" r:id="R2dde0034a4714b75"/>
    <p:sldId xmlns:r="http://schemas.openxmlformats.org/officeDocument/2006/relationships" id="265" r:id="Raf232fcb785a49e4"/>
    <p:sldId xmlns:r="http://schemas.openxmlformats.org/officeDocument/2006/relationships" id="266" r:id="R810973f0b8b443b5"/>
    <p:sldId xmlns:r="http://schemas.openxmlformats.org/officeDocument/2006/relationships" id="267" r:id="R6b89e79fcc3443ba"/>
  </p:sldIdLst>
  <p:sldSz cx="1219136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15b5e6b69b4488" /><Relationship Type="http://schemas.openxmlformats.org/officeDocument/2006/relationships/slideMaster" Target="/ppt/slideMasters/slideMaster1.xml" Id="Rf62e656c1abb4506" /><Relationship Type="http://schemas.openxmlformats.org/officeDocument/2006/relationships/notesMaster" Target="/ppt/notesMasters/notesMaster1.xml" Id="R3d86ce76ae624219" /><Relationship Type="http://schemas.openxmlformats.org/officeDocument/2006/relationships/presProps" Target="/ppt/presProps.xml" Id="R71be386156d14f90" /><Relationship Type="http://schemas.openxmlformats.org/officeDocument/2006/relationships/viewProps" Target="/ppt/viewProps.xml" Id="R1d173c6e52cf4f34" /><Relationship Type="http://schemas.openxmlformats.org/officeDocument/2006/relationships/tableStyles" Target="/ppt/tableStyles.xml" Id="Rf110ac8285ca45ce" /><Relationship Type="http://schemas.openxmlformats.org/officeDocument/2006/relationships/slide" Target="/ppt/slides/slide1.xml" Id="R826d5653c0ab492d" /><Relationship Type="http://schemas.openxmlformats.org/officeDocument/2006/relationships/slide" Target="/ppt/slides/slide2.xml" Id="R76215323626341c2" /><Relationship Type="http://schemas.openxmlformats.org/officeDocument/2006/relationships/slide" Target="/ppt/slides/slide3.xml" Id="Re9f3dbfb8630440c" /><Relationship Type="http://schemas.openxmlformats.org/officeDocument/2006/relationships/slide" Target="/ppt/slides/slide4.xml" Id="Rff5412e484d44371" /><Relationship Type="http://schemas.openxmlformats.org/officeDocument/2006/relationships/slide" Target="/ppt/slides/slide5.xml" Id="Ref3d79766040424f" /><Relationship Type="http://schemas.openxmlformats.org/officeDocument/2006/relationships/slide" Target="/ppt/slides/slide6.xml" Id="R10179f387ab643b3" /><Relationship Type="http://schemas.openxmlformats.org/officeDocument/2006/relationships/slide" Target="/ppt/slides/slide7.xml" Id="R6cd58c00d8fd43f0" /><Relationship Type="http://schemas.openxmlformats.org/officeDocument/2006/relationships/slide" Target="/ppt/slides/slide8.xml" Id="R45744529730c4ca7" /><Relationship Type="http://schemas.openxmlformats.org/officeDocument/2006/relationships/slide" Target="/ppt/slides/slide9.xml" Id="R2dde0034a4714b75" /><Relationship Type="http://schemas.openxmlformats.org/officeDocument/2006/relationships/slide" Target="/ppt/slides/slide10.xml" Id="Raf232fcb785a49e4" /><Relationship Type="http://schemas.openxmlformats.org/officeDocument/2006/relationships/slide" Target="/ppt/slides/slide11.xml" Id="R810973f0b8b443b5" /><Relationship Type="http://schemas.openxmlformats.org/officeDocument/2006/relationships/slide" Target="/ppt/slides/slide12.xml" Id="R6b89e79fcc3443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d03252dd4a4d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af1b54351f466f" /><Relationship Type="http://schemas.openxmlformats.org/officeDocument/2006/relationships/notesMaster" Target="/ppt/notesMasters/notesMaster1.xml" Id="Rf8daf4d30f584c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caafe674824374" /><Relationship Type="http://schemas.openxmlformats.org/officeDocument/2006/relationships/notesMaster" Target="/ppt/notesMasters/notesMaster1.xml" Id="R052c566e190448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b4ed2673154066" /><Relationship Type="http://schemas.openxmlformats.org/officeDocument/2006/relationships/notesMaster" Target="/ppt/notesMasters/notesMaster1.xml" Id="R5aa7898fe51d43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d4b4793d2642c8" /><Relationship Type="http://schemas.openxmlformats.org/officeDocument/2006/relationships/notesMaster" Target="/ppt/notesMasters/notesMaster1.xml" Id="R8adc1a3eb5a34e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e26a81a5ed4c22" /><Relationship Type="http://schemas.openxmlformats.org/officeDocument/2006/relationships/notesMaster" Target="/ppt/notesMasters/notesMaster1.xml" Id="Rdc69e5d24a9c49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04dc94f0e74065" /><Relationship Type="http://schemas.openxmlformats.org/officeDocument/2006/relationships/notesMaster" Target="/ppt/notesMasters/notesMaster1.xml" Id="R782374bf99fe43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8c629b40c6494f" /><Relationship Type="http://schemas.openxmlformats.org/officeDocument/2006/relationships/notesMaster" Target="/ppt/notesMasters/notesMaster1.xml" Id="Rc705f059a5064b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0d378261e9433a" /><Relationship Type="http://schemas.openxmlformats.org/officeDocument/2006/relationships/notesMaster" Target="/ppt/notesMasters/notesMaster1.xml" Id="R191ef42b815647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b2f1ca69154fb4" /><Relationship Type="http://schemas.openxmlformats.org/officeDocument/2006/relationships/notesMaster" Target="/ppt/notesMasters/notesMaster1.xml" Id="Rc7ea2102c79f4a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a1924b42684f78" /><Relationship Type="http://schemas.openxmlformats.org/officeDocument/2006/relationships/notesMaster" Target="/ppt/notesMasters/notesMaster1.xml" Id="R9a6b6260982244b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b807cdef1e442c" /><Relationship Type="http://schemas.openxmlformats.org/officeDocument/2006/relationships/notesMaster" Target="/ppt/notesMasters/notesMaster1.xml" Id="R1d5d2ed5304e47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48ee25ce3c428f" /><Relationship Type="http://schemas.openxmlformats.org/officeDocument/2006/relationships/notesMaster" Target="/ppt/notesMasters/notesMaster1.xml" Id="Ra907f8bdb79f41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MCPTox_文献汇报.pptx，第1页；内容迁移与版式适配。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MCPTox_文献汇报.pptx，第1页；内容迁移与版式适配。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MCPTox_文献汇报.pptx，第2页；内容迁移与版式适配。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MCPTox_文献汇报.pptx，第3页；内容迁移与版式适配。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MCPTox_文献汇报.pptx，第4页；内容迁移与版式适配。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MCPTox_文献汇报.pptx，第5页；内容迁移与版式适配。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MCPTox_文献汇报.pptx，第6页；内容迁移与版式适配。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MCPTox_文献汇报.pptx，第7页；内容迁移与版式适配。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MCPTox_文献汇报.pptx，第8页；内容迁移与版式适配。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MCPTox_文献汇报.pptx，第9页；内容迁移与版式适配。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MCPTox_文献汇报.pptx，第10页；内容迁移与版式适配。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MCPTox_文献汇报.pptx，第10页；内容迁移与版式适配。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85e6d26a1e4d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6c20de8bbf45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de7909e3354a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313d44a68d4f9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5e90943cf9489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aff54944c84aa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ada370b4ee47e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c31262611a499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b959860941401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863de3ba3d446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98d236553443f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F2C25E-01D6-4D89-890E-73257BE8438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272E4C5-6976-47AA-A754-31180EEAEC5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9F17CE-B7F9-49A1-8E4C-BDC0A26F87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2BD29D3-E910-4396-8543-4B05E77576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3E7B22F-7463-4B01-8CB7-3F8A67ACDA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B859DA-9DAF-4DC0-AC88-2ED6011FF1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70A1BCE-E106-48A7-980A-565ECE39EBD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01FA571-1B86-4DED-BBCE-125F7CF69E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DF14A51-5CF0-480D-A840-DA571CF088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1E92292-406C-470A-86B8-1600551018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6A8AE4-265A-4A2A-89C4-B8384A4E1D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A54807-3D1D-40E2-B94D-06B9C81796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9CDB2D-32BC-475E-A356-B52B76817B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BFBF2B-8650-4D95-838C-9B12FAA38A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74FC48A-07FA-43E2-9D8E-8433F27538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B75DDC-FC52-48C8-9CAB-8A1730BC29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F8962C-0114-4D05-B1E3-BE1397E341F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51E04CD-2101-4306-B674-0DA60D70D3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3CF21A7-CB43-447D-AAEA-9DC3B06680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16D1268-E253-4FD8-B980-19A425A322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1AE730-B7B7-44EF-9962-35AB0B9447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A78A86-6A48-43E6-A6BC-480DD002CD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0D62615-7AFA-40DF-B3DC-1D774463FA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39E9E09-BD0D-43FD-9DF9-926C14AF79F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B260BAE-46C0-4A4F-A98E-7797AC92561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08BB590-C4C7-498F-8F56-43EA449B1A8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8A365A8-4AC4-4097-A580-AE70D280F9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77F1686-190C-435D-9143-78E32F9BEE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4D28557-8F0B-4FAB-A443-38ADD28D8E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369B6D-5F47-4F77-BB34-98D90F7447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075ADC9-0EC9-41FB-8ABB-31F8AFFD3B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BE55EE8-A9A6-4B9D-9E10-95774BC090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D3AA750-43FE-48FD-909E-EFC9B61206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EE6A6DB-B25E-4B87-923B-75224CBB48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01DDDA9-5A33-4DFE-818E-42AD5D1CF2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20CC6D5-C67A-49AF-A3BD-4A8C8D7848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7C5D24-411F-4F6E-BD36-358418DC01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2A3630-8D54-47E6-8E47-E6C5CA0632C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720BF3-7543-4028-A0D0-5FB56B4EE4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DBB082B-F166-499F-B4D1-14C317CB0D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433989D-BE0D-4F9E-A487-A0936DF360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989D712-A080-4859-A321-EC6B2B6B0A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976FA30-1DBD-46AF-94DC-B0156B309D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3131B4D-6519-4B6E-A05B-82BED4F4E85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03FAF4-6D11-4028-8230-17B96B7AFA5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2D8D8D6-5716-4F0C-8BAA-E7ED9C14C7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715BB70-45EF-4A47-8468-1DE1A602EB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4A03F1E-F5A8-4983-8A30-8FE0852633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FFDC43B-F547-49AB-94CC-92316987EF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B71A2C6-1C9A-4523-BEE0-413576DDDD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EF15DD1-FBE1-43F1-AA31-8337CD125B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8AFC4C7-DCA6-4750-9E97-94E2795E3E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E89572-3E48-4C04-8CB6-8578495DEB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ED0255F-F5AE-4F30-8886-ECFD779D4B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1A87F39-9CE0-4332-89CF-CFD7007951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5AB1FC-0EFC-40AD-A29F-DAE4945969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FB9D733-494C-462B-BFF9-370EB7E494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3B9397E-83C4-4054-AD09-DE002A8EA0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66eedabac84017" /><Relationship Type="http://schemas.openxmlformats.org/officeDocument/2006/relationships/slideLayout" Target="/ppt/slideLayouts/slideLayout1.xml" Id="Rad44f7cef5944b9f" /><Relationship Type="http://schemas.openxmlformats.org/officeDocument/2006/relationships/slideLayout" Target="/ppt/slideLayouts/slideLayout2.xml" Id="R41eb5923e0d64336" /><Relationship Type="http://schemas.openxmlformats.org/officeDocument/2006/relationships/slideLayout" Target="/ppt/slideLayouts/slideLayout3.xml" Id="Re06f895719f34120" /><Relationship Type="http://schemas.openxmlformats.org/officeDocument/2006/relationships/slideLayout" Target="/ppt/slideLayouts/slideLayout4.xml" Id="R4e98cd4e19ee4c7f" /><Relationship Type="http://schemas.openxmlformats.org/officeDocument/2006/relationships/slideLayout" Target="/ppt/slideLayouts/slideLayout5.xml" Id="R838c6341428c4422" /><Relationship Type="http://schemas.openxmlformats.org/officeDocument/2006/relationships/slideLayout" Target="/ppt/slideLayouts/slideLayout6.xml" Id="Ra36d94dec38d493b" /><Relationship Type="http://schemas.openxmlformats.org/officeDocument/2006/relationships/slideLayout" Target="/ppt/slideLayouts/slideLayout7.xml" Id="R35e67f8583964d6e" /><Relationship Type="http://schemas.openxmlformats.org/officeDocument/2006/relationships/slideLayout" Target="/ppt/slideLayouts/slideLayout8.xml" Id="Rae7de6c1c1d24933" /><Relationship Type="http://schemas.openxmlformats.org/officeDocument/2006/relationships/slideLayout" Target="/ppt/slideLayouts/slideLayout9.xml" Id="Rfb9e3289fa9e4bee" /><Relationship Type="http://schemas.openxmlformats.org/officeDocument/2006/relationships/slideLayout" Target="/ppt/slideLayouts/slideLayout10.xml" Id="Re8496aa0921b4ded" /><Relationship Type="http://schemas.openxmlformats.org/officeDocument/2006/relationships/slideLayout" Target="/ppt/slideLayouts/slideLayout11.xml" Id="Re006bb6d7a5c4e9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6DD55E4-8176-4A63-9E78-82D3D45D6A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AB1F5ED-5BFB-42C5-A4A3-BFA74575F7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2E24284-4C87-403B-A16D-274CCE8ABF9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F253437-67EC-4883-A5C4-D1F330E3182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AFC8CE-05F4-42AE-89CF-F3542F0BBBA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44f7cef5944b9f"/>
    <p:sldLayoutId xmlns:r="http://schemas.openxmlformats.org/officeDocument/2006/relationships" id="2147483650" r:id="R41eb5923e0d64336"/>
    <p:sldLayoutId xmlns:r="http://schemas.openxmlformats.org/officeDocument/2006/relationships" id="2147483651" r:id="Re06f895719f34120"/>
    <p:sldLayoutId xmlns:r="http://schemas.openxmlformats.org/officeDocument/2006/relationships" id="2147483652" r:id="R4e98cd4e19ee4c7f"/>
    <p:sldLayoutId xmlns:r="http://schemas.openxmlformats.org/officeDocument/2006/relationships" id="2147483653" r:id="R838c6341428c4422"/>
    <p:sldLayoutId xmlns:r="http://schemas.openxmlformats.org/officeDocument/2006/relationships" id="2147483654" r:id="Ra36d94dec38d493b"/>
    <p:sldLayoutId xmlns:r="http://schemas.openxmlformats.org/officeDocument/2006/relationships" id="2147483655" r:id="R35e67f8583964d6e"/>
    <p:sldLayoutId xmlns:r="http://schemas.openxmlformats.org/officeDocument/2006/relationships" id="2147483656" r:id="Rae7de6c1c1d24933"/>
    <p:sldLayoutId xmlns:r="http://schemas.openxmlformats.org/officeDocument/2006/relationships" id="2147483657" r:id="Rfb9e3289fa9e4bee"/>
    <p:sldLayoutId xmlns:r="http://schemas.openxmlformats.org/officeDocument/2006/relationships" id="2147483658" r:id="Re8496aa0921b4ded"/>
    <p:sldLayoutId xmlns:r="http://schemas.openxmlformats.org/officeDocument/2006/relationships" id="2147483659" r:id="Re006bb6d7a5c4e93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af7ff77e1fb42e7" /><Relationship Type="http://schemas.openxmlformats.org/officeDocument/2006/relationships/notesSlide" Target="/ppt/notesSlides/notesSlide1.xml" Id="R3d22b32fdb5843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f4625f3cc694956" /><Relationship Type="http://schemas.openxmlformats.org/officeDocument/2006/relationships/notesSlide" Target="/ppt/notesSlides/notesSlide2.xml" Id="R3607dc1b54f14d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3dc7f297fb14672" /><Relationship Type="http://schemas.openxmlformats.org/officeDocument/2006/relationships/notesSlide" Target="/ppt/notesSlides/notesSlide3.xml" Id="R8bb55807aa564d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2628f0124d4237" /><Relationship Type="http://schemas.openxmlformats.org/officeDocument/2006/relationships/notesSlide" Target="/ppt/notesSlides/notesSlide4.xml" Id="R261dca4be2f741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6aa7fa1daf542e9" /><Relationship Type="http://schemas.openxmlformats.org/officeDocument/2006/relationships/notesSlide" Target="/ppt/notesSlides/notesSlide5.xml" Id="R0168342616f547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d691b130e34adb" /><Relationship Type="http://schemas.openxmlformats.org/officeDocument/2006/relationships/notesSlide" Target="/ppt/notesSlides/notesSlide6.xml" Id="R4eea48836bfd45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2b310d5add948be" /><Relationship Type="http://schemas.openxmlformats.org/officeDocument/2006/relationships/notesSlide" Target="/ppt/notesSlides/notesSlide7.xml" Id="R0953da40a14c48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f09a0456534685" /><Relationship Type="http://schemas.openxmlformats.org/officeDocument/2006/relationships/notesSlide" Target="/ppt/notesSlides/notesSlide8.xml" Id="R4da6cd61f91a49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42ee728c6148ff" /><Relationship Type="http://schemas.openxmlformats.org/officeDocument/2006/relationships/notesSlide" Target="/ppt/notesSlides/notesSlide9.xml" Id="R674fcaaff36c48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5bb88425220494b" /><Relationship Type="http://schemas.openxmlformats.org/officeDocument/2006/relationships/notesSlide" Target="/ppt/notesSlides/notesSlide10.xml" Id="R59f7523de3514e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58a1ee948b4ae9" /><Relationship Type="http://schemas.openxmlformats.org/officeDocument/2006/relationships/notesSlide" Target="/ppt/notesSlides/notesSlide11.xml" Id="Rd38340620fc34c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f1397e1e15c4190" /><Relationship Type="http://schemas.openxmlformats.org/officeDocument/2006/relationships/notesSlide" Target="/ppt/notesSlides/notesSlide12.xml" Id="Re62f7e20e371420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DBE9ABB-19C4-404D-BBC7-A4C0E117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0D463D3-15CA-4DA4-834E-9969E186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"/>
            <a:ext cx="12191695" cy="291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 i="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杭州电子科技大学</a:t>
            </a:r>
            <a:r>
              <a:rPr sz="1300" b="0" i="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  ·  </a:t>
            </a:r>
            <a:r>
              <a:rPr sz="1300" b="0" i="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智能物联实验室</a:t>
            </a:r>
            <a:r>
              <a:rPr sz="1300" b="0" i="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 研究生组会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3C11A9F-698D-4B7A-A2FC-CF6BBAA4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822960"/>
            <a:ext cx="667512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E5DE6FC-E992-4721-9987-05E2AD17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" y="1567180"/>
            <a:ext cx="10226040" cy="1014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B3A6B"/>
                </a:solidFill>
                <a:latin typeface="Arial"/>
                <a:ea typeface="Arial"/>
                <a:cs typeface="Arial"/>
              </a:rPr>
              <a:t>MCPTox: A Benchmark for Tool Poisoning</a:t>
            </a:r>
          </a:p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B3A6B"/>
                </a:solidFill>
                <a:latin typeface="Arial"/>
                <a:ea typeface="Arial"/>
                <a:cs typeface="Arial"/>
              </a:rPr>
              <a:t>Attack on Real-World MCP Servers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3057D14-DF5A-43A3-B796-E3F4EF5C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2435"/>
            <a:ext cx="941832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>
                <a:solidFill>
                  <a:srgbClr val="666666"/>
                </a:solidFill>
              </a:rPr>
              <a:t>面向真实MCP服务器的工具投毒攻击基准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AF2BF3E-F3BC-4E31-88CC-E9681B92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91435" y="3731260"/>
            <a:ext cx="2011680" cy="384175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B8411CC1-624F-4AE0-971F-84B7538F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0275" y="3731260"/>
            <a:ext cx="1371600" cy="384175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B5A8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EB8BD6F0-12ED-4318-880E-BE141562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9035" y="3731260"/>
            <a:ext cx="3657600" cy="384175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B5A8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465F134-5370-4153-9E77-155C96F2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91435" y="3766185"/>
            <a:ext cx="2011680" cy="313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AAAI 2026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31D38F2-4622-4DB0-A938-88462B78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0275" y="3766185"/>
            <a:ext cx="1371600" cy="3498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CCF-A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4C061B7-E9E9-4FF3-9226-292EC3C4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36715" y="3766185"/>
            <a:ext cx="2864485" cy="313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USTC &amp; Beihang University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DFFCC61-30A6-411F-999D-A318B492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355" y="4505959"/>
            <a:ext cx="7273925" cy="7620"/>
          </a:xfrm>
          <a:custGeom xmlns:a="http://schemas.openxmlformats.org/drawingml/2006/main">
            <a:gdLst>
              <a:gd name="connsiteX0" fmla="*/ 0 w 11455"/>
              <a:gd name="connsiteY0" fmla="*/ 0 h 12"/>
              <a:gd name="connsiteX1" fmla="*/ 11455 w 11455"/>
              <a:gd name="connsiteY1" fmla="*/ 6 h 12"/>
              <a:gd name="connsiteX2" fmla="*/ 7632 w 11455"/>
              <a:gd name="connsiteY2" fmla="*/ 12 h 12"/>
              <a:gd name="connsiteX3" fmla="*/ 0 w 11455"/>
              <a:gd name="connsiteY3" fmla="*/ 12 h 12"/>
              <a:gd name="connsiteX4" fmla="*/ 0 w 11455"/>
              <a:gd name="connsiteY4" fmla="*/ 0 h 12"/>
            </a:gdLst>
            <a:rect l="l" t="t" r="r" b="b"/>
            <a:pathLst>
              <a:path w="11455" h="12">
                <a:moveTo>
                  <a:pt x="0" y="0"/>
                </a:moveTo>
                <a:lnTo>
                  <a:pt x="11455" y="6"/>
                </a:lnTo>
                <a:lnTo>
                  <a:pt x="7632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0A0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9A9873E-9CE0-4D38-A6A7-27F1516B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94555"/>
            <a:ext cx="9418320" cy="1168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buNone/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汇报人：徐雷    学号：262270059</a:t>
            </a:r>
          </a:p>
          <a:p xmlns:a="http://schemas.openxmlformats.org/drawingml/2006/main">
            <a:pPr algn="ctr">
              <a:lnSpc>
                <a:spcPts val="2800"/>
              </a:lnSpc>
              <a:buNone/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导师：郑秋华副教授</a:t>
            </a:r>
          </a:p>
          <a:p xmlns:a="http://schemas.openxmlformats.org/drawingml/2006/main">
            <a:pPr algn="ctr">
              <a:lnSpc>
                <a:spcPts val="2800"/>
              </a:lnSpc>
              <a:buNone/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日期：2026年7月29日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BE7FF2F-FE9E-4EFC-AAFC-5B2A3054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796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44421AC-7ED5-4B9F-8A2B-D3843481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0A0A0"/>
                </a:solidFill>
              </a:rPr>
              <a:t>1 / 12</a:t>
            </a:r>
          </a:p>
        </p:txBody>
      </p:sp>
      <p:sp>
        <p:nvSpPr>
          <p:cNvPr id="24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39FAC0B-525D-4169-92F8-CB5F1ABC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743200" y="4505959"/>
            <a:ext cx="7273925" cy="7620"/>
          </a:xfrm>
          <a:custGeom xmlns:a="http://schemas.openxmlformats.org/drawingml/2006/main">
            <a:gdLst>
              <a:gd name="connsiteX0" fmla="*/ 0 w 11455"/>
              <a:gd name="connsiteY0" fmla="*/ 0 h 12"/>
              <a:gd name="connsiteX1" fmla="*/ 11455 w 11455"/>
              <a:gd name="connsiteY1" fmla="*/ 6 h 12"/>
              <a:gd name="connsiteX2" fmla="*/ 7632 w 11455"/>
              <a:gd name="connsiteY2" fmla="*/ 12 h 12"/>
              <a:gd name="connsiteX3" fmla="*/ 0 w 11455"/>
              <a:gd name="connsiteY3" fmla="*/ 12 h 12"/>
              <a:gd name="connsiteX4" fmla="*/ 0 w 11455"/>
              <a:gd name="connsiteY4" fmla="*/ 0 h 12"/>
            </a:gdLst>
            <a:rect l="l" t="t" r="r" b="b"/>
            <a:pathLst>
              <a:path w="11455" h="12">
                <a:moveTo>
                  <a:pt x="0" y="0"/>
                </a:moveTo>
                <a:lnTo>
                  <a:pt x="11455" y="6"/>
                </a:lnTo>
                <a:lnTo>
                  <a:pt x="7632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0A0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8800085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B695117-D766-4A66-BE4C-0CE387E8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"/>
            <a:ext cx="12191695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32EC123-5E13-4D62-BF49-E1AB99AF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1.1 文献基本信息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D0BC4F0-C50C-488F-AEA6-824AFE75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457200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2700">
            <a:solidFill>
              <a:srgbClr val="D6E4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3483E73-A5E1-4E9C-A536-12951E21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论文信息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0C8C49B-A4C9-451A-A635-D4297F4E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7360"/>
            <a:ext cx="4206240" cy="1478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会议：AAAI 2026（CCF-A）</a:t>
            </a:r>
          </a:p>
          <a:p xmlns:a="http://schemas.openxmlformats.org/drawingml/2006/main">
            <a:pPr algn="l">
              <a:buNone/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作者：Zhiqiang Wang, Yichao Gao 等</a:t>
            </a:r>
          </a:p>
          <a:p xmlns:a="http://schemas.openxmlformats.org/drawingml/2006/main">
            <a:pPr algn="l">
              <a:buNone/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机构：USTC &amp; Beihang University</a:t>
            </a:r>
          </a:p>
          <a:p xmlns:a="http://schemas.openxmlformats.org/drawingml/2006/main">
            <a:pPr algn="l">
              <a:buNone/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发表日期：2026/06/01</a:t>
            </a:r>
          </a:p>
          <a:p xmlns:a="http://schemas.openxmlformats.org/drawingml/2006/main">
            <a:pPr algn="l">
              <a:buNone/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关键词：MCP Security · Tool Poisoning · LLM Agent Safety</a:t>
            </a:r>
          </a:p>
          <a:p xmlns:a="http://schemas.openxmlformats.org/drawingml/2006/main">
            <a:pPr algn="l">
              <a:buNone/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代码：github.com/wwh0411/MCPTox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D4BBA3A-B599-4CD2-8F9D-D4D4BC9B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主要研究内容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5F036FD-DE65-4A4E-AE4C-463BC31F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23360"/>
            <a:ext cx="420624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首个针对真实世界MCP服务器工具投毒攻击的安全基准</a:t>
            </a:r>
          </a:p>
          <a:p xmlns:a="http://schemas.openxmlformats.org/drawingml/2006/main">
            <a:pPr algn="l">
              <a:buNone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系统评测工具描述注入、权限逃逸与恶意负载执行风险</a:t>
            </a:r>
          </a:p>
          <a:p xmlns:a="http://schemas.openxmlformats.org/drawingml/2006/main">
            <a:pPr algn="l">
              <a:buNone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覆盖20个模型、3类攻击范式，平均ASR为36.5%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C90C657-EE0D-4E40-A4F3-BDD98A47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005840"/>
            <a:ext cx="667512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A0A0A0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638CC9D-6DB3-4617-A954-7F1127FA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971800"/>
            <a:ext cx="61264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Figure 1: Threat Model — 攻击链路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Attacker → Poisoned Tool Description → MCP Server → LLM Agent → Victim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7569436-4018-4216-96D8-E328CCD0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35040"/>
            <a:ext cx="12191695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E9F817E-E62F-466D-AE1F-1A4D3195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2648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✅ 核心贡献：定义MCP工具投毒威胁模型 + 构建真实服务器漏洞数据集 + 量化主流LLM的防御能力缺失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552D1ED-DCD4-47BA-8690-C503A76E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0A0A0"/>
                </a:solidFill>
              </a:rPr>
              <a:t>2 / 12</a:t>
            </a:r>
          </a:p>
        </p:txBody>
      </p:sp>
    </p:spTree>
    <p:extLst>
      <p:ext uri="{BB962C8B-B14F-4D97-AF65-F5344CB8AC3E}">
        <p14:creationId xmlns:p14="http://schemas.microsoft.com/office/powerpoint/2010/main" val="127846762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DBE8FF2-FAE2-40A1-8FE2-55E28CFA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"/>
            <a:ext cx="12191695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98F2BE6-294C-4FFD-999C-8414C23E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1.2 研究背景与安全挑战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BD1A1E1-4D94-4FF2-B9BE-6682E194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1161288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A0A0A0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284F924-73DE-43A6-ACC1-80931291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1106424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Table 1: Attack Surface Comparison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传统API安全 vs MCP特有攻击面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信任边界：API密钥认证 vs 工具描述即指令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Description Injection：在描述中嵌入隐藏指令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Tool Shadowing：同名/相似名恶意工具覆盖合法工具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Rug Pull：运行时动态修改工具行为或参数语义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F5514B8-1650-448A-BBB6-CDB6DED7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343400"/>
            <a:ext cx="566928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2700">
            <a:solidFill>
              <a:srgbClr val="D6E4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DCF6FB2-013E-413E-A408-CAB486C0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9120"/>
            <a:ext cx="5303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研究背景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2537963F-3C67-44F9-AD85-28388AAF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00EE4FD-B325-47BA-901C-E8156450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0"/>
            <a:ext cx="51023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MCP标准化了LLM与外部工具的交互，但“工具描述即指令”引入新的信任边界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641D819E-A9AC-4CB2-9935-EA0D811E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352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F0AF8B0-DE27-4EE9-877C-11690950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257800"/>
            <a:ext cx="51023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现有研究多聚焦Prompt Injection，缺少对MCP工具元数据篡改的系统评测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D228FA2-F014-4789-A0AD-56B8A3E3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343400"/>
            <a:ext cx="566928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2700">
            <a:solidFill>
              <a:srgbClr val="D6E4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E820162-ECE4-4CBC-9318-4C3E1632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89120"/>
            <a:ext cx="5303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研究意义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E4204E12-1934-4076-973E-69FFA958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B24AAE2-5AF4-4939-97E0-6C325FBA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4754880"/>
            <a:ext cx="51023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首次将工具投毒从理论风险转化为可量化、可复现的实证基准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BEB76B57-ABE1-4326-BF9C-E2F25FB9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0352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B524D5A-FD76-4092-9AB7-41FC608F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257800"/>
            <a:ext cx="51023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揭示SOTA模型面对伪装成合法功能的恶意工具时几乎没有有效防御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9B8EE52-FD23-4417-92F9-6E912655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0A0A0"/>
                </a:solidFill>
              </a:rPr>
              <a:t>3 / 12</a:t>
            </a:r>
          </a:p>
        </p:txBody>
      </p:sp>
    </p:spTree>
    <p:extLst>
      <p:ext uri="{BB962C8B-B14F-4D97-AF65-F5344CB8AC3E}">
        <p14:creationId xmlns:p14="http://schemas.microsoft.com/office/powerpoint/2010/main" val="19524815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E66076-8F26-4806-934F-25E10EBF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"/>
            <a:ext cx="12191695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E581F1-0FF3-415E-8C19-BB0E7188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2.1 威胁模型：MCP工具投毒攻击分类学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F5FA84D-E80F-470C-83AD-96B1BEAF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640080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A0A0A0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91937FC-BD51-4F8E-8986-ABF10B0F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71800"/>
            <a:ext cx="58521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Tool Poisoning Attack Taxonomy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P1 显式触发—功能劫持 → P2 隐式触发—功能劫持 → P3 隐式触发—参数篡改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设计原则：Trigger Condition + Malicious Action + Plausible Justification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样本规模：P1 224条 · P2 548条 · P3 725条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CBFB6DA-4F66-424C-8A12-4396E2E6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097280"/>
            <a:ext cx="4754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方法要点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C95BBEB-76E0-4C46-8341-AFD69945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508760"/>
            <a:ext cx="475488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BA1C476-EC94-4F90-9DA2-58F3668F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554480"/>
            <a:ext cx="475488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2B5A83"/>
                </a:solidFill>
                <a:latin typeface="微软雅黑"/>
                <a:ea typeface="微软雅黑"/>
                <a:cs typeface="微软雅黑"/>
              </a:rPr>
              <a:t>▸ 攻击入口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0AB569C-8F10-468B-AAD8-0C22FBAE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828800"/>
            <a:ext cx="4480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利用MCP Server注册机制或第三方工具市场审核缺失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7E8CF8D-07E8-4513-9B10-A6890089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286000"/>
            <a:ext cx="475488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437A793-7B0A-471B-A1E7-C3F81D4A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331720"/>
            <a:ext cx="475488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2B5A83"/>
                </a:solidFill>
                <a:latin typeface="微软雅黑"/>
                <a:ea typeface="微软雅黑"/>
                <a:cs typeface="微软雅黑"/>
              </a:rPr>
              <a:t>▸ 触发机制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055EAE8-4F61-41B1-A5D3-3EF7EB38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606039"/>
            <a:ext cx="4480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依赖LLM对自然语言工具描述的过度遵从性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95A2A6B-FC13-43B0-97C8-F4BF69B7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063240"/>
            <a:ext cx="475488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968C360-F0F2-4C00-80F8-FD9AF435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108960"/>
            <a:ext cx="475488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2B5A83"/>
                </a:solidFill>
                <a:latin typeface="微软雅黑"/>
                <a:ea typeface="微软雅黑"/>
                <a:cs typeface="微软雅黑"/>
              </a:rPr>
              <a:t>▸ 载荷类型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9C2D429-AED6-4502-A6E8-FA98D823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383279"/>
            <a:ext cx="4480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数据窃取 / 越权操作 / 恶意代码执行 / 钓鱼诱导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700A24F-BBBE-43CF-AC6F-57FF1EAB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840480"/>
            <a:ext cx="475488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89F1FEA-E558-4D56-A3E7-BD0736E4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886200"/>
            <a:ext cx="475488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2B5A83"/>
                </a:solidFill>
                <a:latin typeface="微软雅黑"/>
                <a:ea typeface="微软雅黑"/>
                <a:cs typeface="微软雅黑"/>
              </a:rPr>
              <a:t>▸ 隐蔽性设计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BB6D60C-C1FE-469D-809C-708AAA40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160520"/>
            <a:ext cx="4480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零宽字符、Base64编码与语义混淆绕过简单检测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350E06A-09E0-4B50-92F8-4565C5EC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35040"/>
            <a:ext cx="12191695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B56F8BE-2154-4C25-9D3F-93CE74F1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2648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✅ 关键洞察：攻击利用自然语言接口的模糊性，打破代码级安全隔离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538D338-C077-4F4C-B6F8-4A201145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0A0A0"/>
                </a:solidFill>
              </a:rPr>
              <a:t>4 / 12</a:t>
            </a:r>
          </a:p>
        </p:txBody>
      </p:sp>
    </p:spTree>
    <p:extLst>
      <p:ext uri="{BB962C8B-B14F-4D97-AF65-F5344CB8AC3E}">
        <p14:creationId xmlns:p14="http://schemas.microsoft.com/office/powerpoint/2010/main" val="122663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A36A685-96F4-454F-8C62-B20B0B81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"/>
            <a:ext cx="12191695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E0F23E1-A0E7-46C4-B8F9-2ACF10E2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2.2 基准构建：从真实服务器到攻击用例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A0022C6-9AB5-4A6A-962E-C46C5209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576072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A0A0A0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0C46584-C3C4-4EAA-842C-14F6DA8E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71800"/>
            <a:ext cx="52120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Benchmark Construction Pipeline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真实MCP服务器爬取 → 漏洞模式匹配 → 投毒工具生成 → 人工验证审核 → 测试套件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覆盖45+真实MCP Server，收集1497条原始工具定义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1CE38DD-A297-45B6-8077-044551FA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005840"/>
            <a:ext cx="557784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2700">
            <a:solidFill>
              <a:srgbClr val="D6E4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6169456-2990-4146-8DD1-7DF766DB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097280"/>
            <a:ext cx="5303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数据来源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BCE626B4-635B-48AD-A8FA-FA767A55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55448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E451A3F-6891-4E52-8FD7-C449A55A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1508760"/>
            <a:ext cx="491947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覆盖文件系统、数据库、Web API、智能家居等高风险类别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8B64EE83-95A1-41A3-9902-CE99EAD3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1168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B120850-F71D-499F-BF6D-18772B0B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1965960"/>
            <a:ext cx="491947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安全审计标记潜在描述注入点，形成真实工具基础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E1F1638-6495-47D6-801B-4BC746B7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474720"/>
            <a:ext cx="557784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2700">
            <a:solidFill>
              <a:srgbClr val="D6E4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0178684-6966-47CD-8B01-06F3BE4D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566160"/>
            <a:ext cx="5303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用例生成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9EF895B3-DE35-4735-9043-AADD3DB3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023359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3FAD32C-5438-434B-9A8C-D2DBB7DD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3977639"/>
            <a:ext cx="491947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GPT-4、Gemini-2.5辅助生成1497条投毒用例，保证语法合法与语义欺骗性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C9341C18-F420-4DB2-B195-D8128258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48056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BCCDB6D-CF5F-41AB-B1B8-148203A7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4434840"/>
            <a:ext cx="491947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每条用例附Ground Truth：预期安全行为 vs 实际受害行为</a:t>
            </a: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CF5B9786-D132-4A45-A65B-D5FF39FD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93776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2B4C1A3-152B-491D-A248-BE8EEFB2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4892040"/>
            <a:ext cx="491947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人工验证恶意操作可执行，并消除幻觉参数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B616EBB-52C6-4203-8438-35BC8670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35040"/>
            <a:ext cx="12191695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E1CFC99-A197-4197-ADBA-2C521EC6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2648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✅ 数据质量：全部攻击用例经过可执行验证，而非纯文本构造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EE1752C-B3F4-4C4C-9F70-BF937DB1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0A0A0"/>
                </a:solidFill>
              </a:rPr>
              <a:t>5 / 12</a:t>
            </a:r>
          </a:p>
        </p:txBody>
      </p:sp>
    </p:spTree>
    <p:extLst>
      <p:ext uri="{BB962C8B-B14F-4D97-AF65-F5344CB8AC3E}">
        <p14:creationId xmlns:p14="http://schemas.microsoft.com/office/powerpoint/2010/main" val="8076663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FBB0F5C-711F-462E-BD6B-114A659F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"/>
            <a:ext cx="12191695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E7E72F7-9C31-4E49-A279-63E4A646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3.1 数据集统计与评估指标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15EC886-3EB4-4991-8747-89F3A5EC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11612880" cy="3474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A0A0A0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82CD924-379F-4E04-BDE7-F415BBB5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94560"/>
            <a:ext cx="110642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Figure 2: 数据集统计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45+ MCP Server · 1497条投毒用例 · 20个SOTA模型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三类攻击范式：P1显式劫持 / P2隐式劫持 / P3参数篡改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结果标签：Success / Ignored / DirectExecution / Refused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DC61D20-4E35-4A8B-B67C-366B1D22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663440"/>
            <a:ext cx="1161288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2700">
            <a:solidFill>
              <a:srgbClr val="D6E4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BECA0AA-F1CC-4431-A2B1-8DD1CBFE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实验设置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EDE9ED3F-2B6B-409C-9A1C-E000401A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064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81ADBA6-AF2A-407D-AC60-AF917A42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074920"/>
            <a:ext cx="52852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规模：45+ MCP Server，1497条投毒用例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9DBBB75F-253A-4A70-9A3D-4729A7F3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8112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95FE7DE-D7CC-4C71-A0EC-484EFC3B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22392"/>
            <a:ext cx="52852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模型：GPT-4o、Claude、Qwen3、Llama3、o1等20个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DC0DF115-7502-4950-AA28-6FF8A11F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5584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B35A47C-3813-47F3-AB67-5014BDFA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69864"/>
            <a:ext cx="52852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指标：Attack Success Rate（ASR）/ Refused Ratio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6A324EAA-6247-4DD8-8198-A9149589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12064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9B9C5C8-D5AF-41F5-8944-F6566343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5074920"/>
            <a:ext cx="52852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评估：Execution-Based + 三类失败结果标签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A81FBE9D-22D0-408E-94AD-F3115CD1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468112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B8C61D2-DF2F-4F50-BF62-CDCCAFF3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5422392"/>
            <a:ext cx="52852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防御：Base / Enhanced 1 / Enhanced 2 三种设置</a:t>
            </a: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117A5A77-77E2-4637-81F8-FF52334D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815584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2BBC246-7DFA-4DB2-86FF-35F8A197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5769864"/>
            <a:ext cx="52852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执行验证结合语义判断，降低纯文本匹配的评估偏差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1BA1873-29F2-4990-AA3B-B4D9E4A5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0A0A0"/>
                </a:solidFill>
              </a:rPr>
              <a:t>6 / 12</a:t>
            </a:r>
          </a:p>
        </p:txBody>
      </p:sp>
    </p:spTree>
    <p:extLst>
      <p:ext uri="{BB962C8B-B14F-4D97-AF65-F5344CB8AC3E}">
        <p14:creationId xmlns:p14="http://schemas.microsoft.com/office/powerpoint/2010/main" val="129936741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1438EFE-3066-4B1C-B74B-256615BE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"/>
            <a:ext cx="12191695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0CE9133-76C8-43DE-9A60-89C0ABE1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3.2 主实验：SOTA模型对工具投毒的脆弱性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6D4B45D-F764-4AAB-9BEB-FF0D9C5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11612880" cy="3474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A0A0A0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8CCEB69-62E6-4C65-8DE1-52AA12F8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94560"/>
            <a:ext cx="110642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Table 2: 各模型攻击成功率（ASR %）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o1-mini 72.8 · Phi-4 70.2 · DeepSeek-R1 70.9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GPT-4o-mini 61.8 · Qwen3-32B 58.5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Claude-3.7-Sonnet 34.3 · Mistral 8.3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0B10EBD-61A6-403A-9A5F-55531334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663440"/>
            <a:ext cx="1161288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2700">
            <a:solidFill>
              <a:srgbClr val="D6E4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E4594D-1EDB-46AB-8FE2-8616EB4E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核心发现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0A7852B-AA7D-426B-8E77-22E227A9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74920"/>
            <a:ext cx="109728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📊 整体脆弱性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839CAEF-A05D-418B-BA60-D9385F79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074920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所有模型ASR均 &gt; 8%；多个推理模型平均ASR超过70%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075E18C-31D9-4E4B-A88C-D056963B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2392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📊 攻击类型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533EBD6-2AF5-462A-BAD3-5DADAF91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422392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P3参数篡改最危险：46.7% &gt; P1 36.7% &gt; P2 26.7%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F9BB3BA-8D43-4C02-BBE8-ABDED3C6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69864"/>
            <a:ext cx="109728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📊 逆缩放效应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DE2218A-F4F0-404D-8350-3A298B60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769864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更大模型或推理模式可能更易遵从恶意描述；Qwen3推理模式ASR +27.8%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2A63FF5-C5B9-463A-BF02-728F371A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7336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📊 防御效果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629A8EE-1546-4EB8-89F2-73EE7851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6117336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Enhanced prompts仅改善约2.0–2.6%，现有安全对齐几乎无效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C54CB53-88F1-43A0-AFB9-A99ECD0C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0A0A0"/>
                </a:solidFill>
              </a:rPr>
              <a:t>7 / 12</a:t>
            </a:r>
          </a:p>
        </p:txBody>
      </p:sp>
    </p:spTree>
    <p:extLst>
      <p:ext uri="{BB962C8B-B14F-4D97-AF65-F5344CB8AC3E}">
        <p14:creationId xmlns:p14="http://schemas.microsoft.com/office/powerpoint/2010/main" val="16366277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BA739A4-B52C-466A-AA8F-16F795F3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"/>
            <a:ext cx="12191695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3408166-2C1C-4B1B-9E71-97D21232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3.3 失败模式分析与根因探究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D0B10FB-E451-4B4A-9A82-CBC0B5F2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576072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A0A0A0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1912A5D-4332-48B0-B0B0-D5D819B5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52120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Figure 6: 失败模式分布与拒绝率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主动拒绝比例极低：Claude-3.7-Sonnet最高仅2.3%，其他模型均 &lt; 3%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DirectExecution仍达18.9%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AE7286C-7B2B-4A40-8E0F-1AFA69A9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005840"/>
            <a:ext cx="557784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2700">
            <a:solidFill>
              <a:srgbClr val="D6E4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9A7CEE5-0050-4F4E-91A5-A67C4C9E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097280"/>
            <a:ext cx="5303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失败归因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35AF994A-E41D-4F59-9D6A-923FEDD4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60020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5BA3064-ACFD-4D3F-85D2-A44F6BBF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1554480"/>
            <a:ext cx="49194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指令优先级混淆：把工具描述中的恶意指令当作系统级约束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9021B659-3182-41C7-A31A-2A68ADD5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19456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A73207D-85A2-43FE-8C12-52750C17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2148840"/>
            <a:ext cx="49194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上下文窗口污染：长工具列表稀释安全对齐信号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B72C710-4D33-4239-8F9C-8FB5BA1E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383280"/>
            <a:ext cx="5577840" cy="237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A0A0A0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C928405-C687-4DB3-BE43-032D424E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023360"/>
            <a:ext cx="50292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相关性分析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• 描述越长，越容易藏匿攻击指令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• P3保持主功能不变，仅修改参数，最难察觉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• 更强推理能力可能增加对恶意描述的遵从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492096A-0B51-410D-95A5-935E415A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35040"/>
            <a:ext cx="12191695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6B6E999-554E-46F9-88AF-6A9E62AD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2648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✅ 根因：安全对齐尚未覆盖“工具元数据”这一新模态，模型缺少怀疑机制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2CAC9ED-9CC5-4098-B836-717AE863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0A0A0"/>
                </a:solidFill>
              </a:rPr>
              <a:t>8 / 12</a:t>
            </a:r>
          </a:p>
        </p:txBody>
      </p:sp>
    </p:spTree>
    <p:extLst>
      <p:ext uri="{BB962C8B-B14F-4D97-AF65-F5344CB8AC3E}">
        <p14:creationId xmlns:p14="http://schemas.microsoft.com/office/powerpoint/2010/main" val="147559474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B5F1E05-8B66-4400-9D83-9D0B9848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"/>
            <a:ext cx="12191695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E563DD2-86BF-41EF-9597-C439558E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3.4 现有防御机制有效性评估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1D86A19-1139-4E66-B923-A3DC3638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640080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A0A0A0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7B014A4-326F-49F4-A3CC-65D61008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71800"/>
            <a:ext cx="58521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Figure 5: 不同攻击范式与增强设置下的ASR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Prompt Hardening：约2–3%降幅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Input Sanitization：语义级投毒检出率极低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Fine-tuned Detector：效果中等但泛化能力差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6624769-5D46-4E31-B7A9-0915FED4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097280"/>
            <a:ext cx="4754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防御局限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373947F-88C1-482A-9797-3286F4A1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645920"/>
            <a:ext cx="475488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39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43F8A29-2AC5-4D42-9488-87FC7529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645920"/>
            <a:ext cx="73152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2458AFA-CC96-41B8-8876-30FAC4D0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737360"/>
            <a:ext cx="438912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❌ Prompt工程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2D9EA6E-87A8-4317-BB96-FC5BE756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057400"/>
            <a:ext cx="4389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易被自适应攻击绕过，并可能损害正常工具调用准确率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1354EAD-EF97-4545-BA03-52BB5442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971800"/>
            <a:ext cx="475488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D7D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F9FCA97-C8F0-4626-85A7-D3232ECA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971800"/>
            <a:ext cx="73152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6388649-B5CC-44FB-B00F-AA2612A8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063240"/>
            <a:ext cx="438912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❌ 规则过滤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101CEF3-B10C-443A-B2C0-9737AE59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383280"/>
            <a:ext cx="4389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难以识别“备份到恶意URL”等语义级投毒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AA97D3F-B664-43D3-8D31-CB38806F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297680"/>
            <a:ext cx="475488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E44A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A101E6E-F2BF-4698-8E18-6C88F938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297680"/>
            <a:ext cx="73152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44A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9B57753-3B75-4DA1-9A02-FEEF50F1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389120"/>
            <a:ext cx="438912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❌ 现有安全对齐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2BAFA11-A3CB-4853-96FF-80F058C8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709160"/>
            <a:ext cx="4389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主动拒绝率不足3%，工具元数据几乎处于防御盲区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12124AE-E132-4CF6-9921-2B7439BF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35040"/>
            <a:ext cx="12191695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E629663-3CDF-4894-9D09-9725853C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2648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✅ 防御缺口：需要协议层运行时监控、工具签名验证与沙箱隔离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E4D1E74-C542-4B20-9235-FD2146DE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0A0A0"/>
                </a:solidFill>
              </a:rPr>
              <a:t>9 / 12</a:t>
            </a:r>
          </a:p>
        </p:txBody>
      </p:sp>
    </p:spTree>
    <p:extLst>
      <p:ext uri="{BB962C8B-B14F-4D97-AF65-F5344CB8AC3E}">
        <p14:creationId xmlns:p14="http://schemas.microsoft.com/office/powerpoint/2010/main" val="86798439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F9F9B8-BAAB-4808-9C15-217221B3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"/>
            <a:ext cx="12191695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AF79524-1493-47F3-A416-D8210FFE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4.1 源码复现验证：50样本 × 3模型对比实验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1A830B4-5EA5-4E26-BAD0-E60F162D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116128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2700">
            <a:solidFill>
              <a:srgbClr val="D6E4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graphicFrame>
        <p:nvGraphicFramePr>
          <p:cNvPr id="16" name="Table 4"/>
          <p:cNvGraphicFramePr/>
          <p:nvPr/>
        </p:nvGraphicFramePr>
        <p:xfrm>
          <a:off xmlns:a="http://schemas.openxmlformats.org/drawingml/2006/main" x="457200" y="1051560"/>
          <a:ext xmlns:a="http://schemas.openxmlformats.org/drawingml/2006/main" cx="11247120" cy="8229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418320"/>
              </a:tblGrid>
              <a:tr h="1645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样本数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50条（随机/分层抽样）</a:t>
                      </a:r>
                    </a:p>
                  </a:txBody>
                  <a:tcPr marL="91440" marR="91440" marT="45720" marB="45720"/>
                </a:tc>
              </a:tr>
              <a:tr h="1645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</a:t>
                      </a:r>
                    </a:p>
                  </a:txBody>
                  <a:tcPr marL="91440" marR="91440" marT="45720" marB="45720"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[模型A] / [模型B] / [模型C]</a:t>
                      </a:r>
                    </a:p>
                  </a:txBody>
                  <a:tcPr marL="91440" marR="91440" marT="45720" marB="45720">
                    <a:solidFill>
                      <a:srgbClr val="EBF1F8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评估方式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ASR / Refused Ratio</a:t>
                      </a:r>
                    </a:p>
                  </a:txBody>
                  <a:tcPr marL="91440" marR="91440" marT="45720" marB="45720"/>
                </a:tc>
              </a:tr>
              <a:tr h="1645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</a:t>
                      </a:r>
                    </a:p>
                  </a:txBody>
                  <a:tcPr marL="91440" marR="91440" marT="45720" marB="45720"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MCPTox官方框架 + Docker隔离沙箱</a:t>
                      </a:r>
                    </a:p>
                  </a:txBody>
                  <a:tcPr marL="91440" marR="91440" marT="45720" marB="45720">
                    <a:solidFill>
                      <a:srgbClr val="EBF1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459226D-1615-4CA7-BF66-7402E01A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103120"/>
            <a:ext cx="1161288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A0A0A0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D7572DD-50A1-4E4E-8FBA-C2CBB6EE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54680"/>
            <a:ext cx="110642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（此处插入你的实验结果图表）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建议：横轴=3个模型，纵轴=ASR / Refused Ratio分组柱状图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或按P1 / P2 / P3细分模型表现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92963C4-7DB1-439A-AE29-BE8988D2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5486400"/>
            <a:ext cx="116128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1"/>
          </a:solidFill>
          <a:ln xmlns:a="http://schemas.openxmlformats.org/drawingml/2006/main" w="12700">
            <a:solidFill>
              <a:srgbClr val="ED7D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37D49B9-CDC1-4542-A809-AA2AD152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3212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待填写结论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26458CB-2209-48E2-AA8A-ACB0F516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2160"/>
            <a:ext cx="1124712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• [待填写：与论文Table 2对应数据是否一致、偏差多大]</a:t>
            </a:r>
          </a:p>
          <a:p xmlns:a="http://schemas.openxmlformats.org/drawingml/2006/main">
            <a:pPr algn="l">
              <a:buNone/>
            </a:pPr>
            <a:r>
              <a:rPr sz="1100" b="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• [待填写：三个模型的相对排序是否与论文一致]</a:t>
            </a:r>
          </a:p>
          <a:p xmlns:a="http://schemas.openxmlformats.org/drawingml/2006/main">
            <a:pPr algn="l">
              <a:buNone/>
            </a:pPr>
            <a:r>
              <a:rPr sz="1100" b="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• [待填写：典型失败case或值得讨论的现象]</a:t>
            </a:r>
          </a:p>
          <a:p xmlns:a="http://schemas.openxmlformats.org/drawingml/2006/main">
            <a:pPr algn="l">
              <a:buNone/>
            </a:pPr>
            <a:r>
              <a:rPr sz="1100" b="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⚠️ 图表和结论待实验完成后填入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4AED388-A7ED-493D-AE81-10AE7285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0A0A0"/>
                </a:solidFill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118681043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E1EEE69-48A5-4D87-AFCA-63E482FD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"/>
            <a:ext cx="12191695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F5A82B6-3D41-43FA-9692-4C86737F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4.2 扩展验证与文献总结反思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3B3AB15-6100-4CA9-BFA5-5BEB4FA6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576072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A0A0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B080D8C-4E7C-4DE2-AFD3-078477BD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530352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扩展实验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6B2EC31-1DC4-494E-A91C-8D16266F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5303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设置：[X]条增强样本（组合攻击/多跳投毒） + [模型D / E]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3097DE3-4006-45B6-BDA9-B131A3BC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539496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A0A0A0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1B835C0-5E83-4E9D-A77E-1A7547C5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8600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 i="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（此处插入实验结果图表）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BED47C2-B8A0-42BC-8B70-6F7A05CE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005840"/>
            <a:ext cx="557784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1"/>
          </a:solidFill>
          <a:ln xmlns:a="http://schemas.openxmlformats.org/drawingml/2006/main" w="12700">
            <a:solidFill>
              <a:srgbClr val="ED7D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C805665-0A4C-4F4D-88E7-7B4AE884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051560"/>
            <a:ext cx="530352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预留结论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9E0192E-D8A0-45C8-80DE-13DE4B40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417320"/>
            <a:ext cx="512064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• [待填写：组合攻击是否产生1+1&gt;2的突破效果]</a:t>
            </a:r>
          </a:p>
          <a:p xmlns:a="http://schemas.openxmlformats.org/drawingml/2006/main">
            <a:pPr algn="l">
              <a:buNone/>
            </a:pPr>
            <a:r>
              <a:rPr sz="1100" b="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• [待填写：大样本下防御策略的鲁棒性变化]</a:t>
            </a:r>
          </a:p>
          <a:p xmlns:a="http://schemas.openxmlformats.org/drawingml/2006/main">
            <a:pPr algn="l">
              <a:buNone/>
            </a:pPr>
            <a:r>
              <a:rPr sz="1100" b="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• [待填写：两模型差异是否更加显著]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35EB842-9E7B-4C1A-B347-276AFDFB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749039"/>
            <a:ext cx="1161288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9050">
            <a:solidFill>
              <a:srgbClr val="1F4E7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DBDFACB-38AD-45AE-A1E6-89B295EF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创新点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74DCF1F-5933-4186-B718-DCDB7DCD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60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① 首次系统定义并量化MCP工具投毒攻击面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94E0C8A-7FEF-43EA-A003-9DC0490A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80559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② 构建基于真实服务器的可执行安全基准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2B24B6C-E901-4A19-8BBA-7247C42C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0599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③ 揭示工具描述作为新型攻击载体的独特危险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2B2B72D-1C67-4789-BBD1-9C42D8C1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9476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局限与改进方向</a:t>
            </a: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8199B1BB-6C30-48F6-B398-186903A1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0624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8B9EDDF-033A-480F-A9B1-DFCDC320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4160520"/>
            <a:ext cx="51023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基准工具类型有限，尚未覆盖支付、医疗等高危领域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585DA2AA-6402-46ED-9738-3C44182A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26279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EFAAE8-8FED-4231-8491-4E0852F4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4480559"/>
            <a:ext cx="51023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攻击载荷为半自动生成，缺少针对防御优化的自适应攻击</a:t>
            </a: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F1CC6EFC-4852-4638-BD9B-B4EDB437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19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EAB5DFE-B8EA-4F83-832C-B1E7F62E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4800599"/>
            <a:ext cx="51023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未来应研究工具签名、权限控制、运行时监测与隔离执行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1C821C6-68D9-4B5A-A577-8F908CB8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0A0A0"/>
                </a:solidFill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175645394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B5E69ED-67E3-43BB-95E1-D772E070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026AB5D-99FB-4B86-9F3C-8EA01A22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0040"/>
            <a:ext cx="667512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1225B43-B9C6-4F4E-9605-EFD74D8F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40080"/>
            <a:ext cx="94183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感谢聆听 · 欢迎讨论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E558AAE-85BE-4CFD-A3D6-A11BCE94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63040"/>
            <a:ext cx="9418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0" i="0">
                <a:solidFill>
                  <a:srgbClr val="A0A0A0"/>
                </a:solidFill>
                <a:latin typeface="Times New Roman"/>
                <a:ea typeface="Times New Roman"/>
                <a:cs typeface="Times New Roman"/>
              </a:rPr>
              <a:t>Thank You · Q &amp; 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98AA831-A6B6-44F0-AEE4-991621C9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11680"/>
            <a:ext cx="3931920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A0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E8A4496-6B4E-4248-B9A0-73BDB77F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86000"/>
            <a:ext cx="9418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核心参考文献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48C154B-F989-4CE7-A38B-6B715F7C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51760"/>
            <a:ext cx="941832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00"/>
              </a:lnSpc>
              <a:buNone/>
            </a:pPr>
            <a:r>
              <a:rPr sz="1200" b="0">
                <a:solidFill>
                  <a:srgbClr val="A0A0A0"/>
                </a:solidFill>
                <a:latin typeface="Times New Roman"/>
                <a:ea typeface="Times New Roman"/>
                <a:cs typeface="Times New Roman"/>
              </a:rPr>
              <a:t>[1] Wang, Z., Gao, Y. et al. MCPTox: A Benchmark for Tool Poisoning Attack on Real-World MCP Servers. AAAI 2026.</a:t>
            </a:r>
          </a:p>
          <a:p xmlns:a="http://schemas.openxmlformats.org/drawingml/2006/main">
            <a:pPr algn="l">
              <a:lnSpc>
                <a:spcPts val="2200"/>
              </a:lnSpc>
              <a:buNone/>
            </a:pPr>
            <a:r>
              <a:rPr sz="1200" b="0">
                <a:solidFill>
                  <a:srgbClr val="A0A0A0"/>
                </a:solidFill>
                <a:latin typeface="Times New Roman"/>
                <a:ea typeface="Times New Roman"/>
                <a:cs typeface="Times New Roman"/>
              </a:rPr>
              <a:t>[2] Anthropic. Model Context Protocol Specification. 2024.</a:t>
            </a:r>
          </a:p>
          <a:p xmlns:a="http://schemas.openxmlformats.org/drawingml/2006/main">
            <a:pPr algn="l">
              <a:lnSpc>
                <a:spcPts val="2200"/>
              </a:lnSpc>
              <a:buNone/>
            </a:pPr>
            <a:r>
              <a:rPr sz="1200" b="0">
                <a:solidFill>
                  <a:srgbClr val="A0A0A0"/>
                </a:solidFill>
                <a:latin typeface="Times New Roman"/>
                <a:ea typeface="Times New Roman"/>
                <a:cs typeface="Times New Roman"/>
              </a:rPr>
              <a:t>[3] Yao et al. ReAct: Synergizing Reasoning and Acting in Language Models. ICLR 2023.</a:t>
            </a:r>
          </a:p>
          <a:p xmlns:a="http://schemas.openxmlformats.org/drawingml/2006/main">
            <a:pPr algn="l">
              <a:lnSpc>
                <a:spcPts val="2200"/>
              </a:lnSpc>
              <a:buNone/>
            </a:pPr>
            <a:r>
              <a:rPr sz="1200" b="0">
                <a:solidFill>
                  <a:srgbClr val="A0A0A0"/>
                </a:solidFill>
                <a:latin typeface="Times New Roman"/>
                <a:ea typeface="Times New Roman"/>
                <a:cs typeface="Times New Roman"/>
              </a:rPr>
              <a:t>[4] Patil et al. Gorilla: Large Language Model Connected with Massive APIs. NeurIPS 2023.</a:t>
            </a:r>
          </a:p>
          <a:p xmlns:a="http://schemas.openxmlformats.org/drawingml/2006/main">
            <a:pPr algn="l">
              <a:lnSpc>
                <a:spcPts val="2200"/>
              </a:lnSpc>
              <a:buNone/>
            </a:pPr>
            <a:r>
              <a:rPr sz="1200" b="0">
                <a:solidFill>
                  <a:srgbClr val="A0A0A0"/>
                </a:solidFill>
                <a:latin typeface="Times New Roman"/>
                <a:ea typeface="Times New Roman"/>
                <a:cs typeface="Times New Roman"/>
              </a:rPr>
              <a:t>[5] 可补充复现实验中使用的模型与安全评测文献。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3366C47-A0E0-4EFD-900A-D708E238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37760"/>
            <a:ext cx="3931920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A0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9121BE9-7131-4CEA-96EF-FA0471B1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20640"/>
            <a:ext cx="94183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00"/>
              </a:lnSpc>
              <a:buNone/>
            </a:pPr>
            <a:r>
              <a:rPr sz="1100" b="0">
                <a:solidFill>
                  <a:srgbClr val="A0A0A0"/>
                </a:solidFill>
                <a:latin typeface="Times New Roman"/>
                <a:ea typeface="Times New Roman"/>
                <a:cs typeface="Times New Roman"/>
              </a:rPr>
              <a:t>论文代码：github.com/wwh0411/MCPTox</a:t>
            </a:r>
          </a:p>
          <a:p xmlns:a="http://schemas.openxmlformats.org/drawingml/2006/main">
            <a:pPr algn="ctr">
              <a:lnSpc>
                <a:spcPts val="2000"/>
              </a:lnSpc>
              <a:buNone/>
            </a:pPr>
            <a:r>
              <a:rPr sz="1100" b="0">
                <a:solidFill>
                  <a:srgbClr val="A0A0A0"/>
                </a:solidFill>
                <a:latin typeface="Times New Roman"/>
                <a:ea typeface="Times New Roman"/>
                <a:cs typeface="Times New Roman"/>
              </a:rPr>
              <a:t>复现代码/数据：[你的仓库链接]</a:t>
            </a:r>
          </a:p>
          <a:p xmlns:a="http://schemas.openxmlformats.org/drawingml/2006/main">
            <a:pPr algn="ctr">
              <a:lnSpc>
                <a:spcPts val="2000"/>
              </a:lnSpc>
              <a:buNone/>
            </a:pPr>
            <a:r>
              <a:rPr sz="1100" b="0">
                <a:solidFill>
                  <a:srgbClr val="A0A0A0"/>
                </a:solidFill>
                <a:latin typeface="Times New Roman"/>
                <a:ea typeface="Times New Roman"/>
                <a:cs typeface="Times New Roman"/>
              </a:rPr>
              <a:t>汇报人邮箱：xxx@xxx.edu.cn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27523E6-84F7-4217-AF21-D572D712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796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0A5B81D-7393-4C58-BEEB-11A9A1CA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0A0A0"/>
                </a:solidFill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84581970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2026-07-25T04:09:15.6900000Z</dcterms:created>
  <dcterms:modified xsi:type="dcterms:W3CDTF">2026-07-25T04:09:15.6900000Z</dcterms:modified>
</coreProperties>
</file>