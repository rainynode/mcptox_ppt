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1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B5A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17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320040"/>
            <a:ext cx="12191695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杭州电子科技大学</a:t>
            </a:r>
            <a:r>
              <a:rPr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·  </a:t>
            </a:r>
            <a:r>
              <a:rPr lang="en-US"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</a:t>
            </a:r>
            <a:r>
              <a:rPr lang="zh-CN"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实验室</a:t>
            </a:r>
            <a:r>
              <a:rPr sz="1300" b="0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研究生组会</a:t>
            </a:r>
            <a:endParaRPr sz="1300" b="0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0" y="822960"/>
            <a:ext cx="6675120" cy="109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43940" y="1567180"/>
            <a:ext cx="10226040" cy="10147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MCPTox: A Benchmark for Tool Poisoning</a:t>
            </a:r>
            <a:endParaRPr lang="en-US" sz="3000" dirty="0"/>
          </a:p>
          <a:p>
            <a:pPr marL="0" indent="0" algn="ctr">
              <a:buNone/>
            </a:pPr>
            <a:r>
              <a:rPr lang="en-US" sz="3000" b="1" dirty="0">
                <a:solidFill>
                  <a:srgbClr val="1B3A6B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Attack on Real-World MCP Servers</a:t>
            </a:r>
            <a:endParaRPr sz="3000" b="1" i="0">
              <a:solidFill>
                <a:srgbClr val="1F4E79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972435"/>
            <a:ext cx="941832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en-US" dirty="0">
                <a:solidFill>
                  <a:srgbClr val="666666"/>
                </a:solidFill>
                <a:sym typeface="+mn-ea"/>
              </a:rPr>
              <a:t>面向真实MCP服务器的工具投毒攻击基准</a:t>
            </a:r>
            <a:endParaRPr sz="1800" b="0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1" name="组合 20"/>
          <p:cNvGrpSpPr/>
          <p:nvPr/>
        </p:nvGrpSpPr>
        <p:grpSpPr>
          <a:xfrm>
            <a:off x="2591435" y="3731260"/>
            <a:ext cx="7315200" cy="383540"/>
            <a:chOff x="3816" y="6288"/>
            <a:chExt cx="11520" cy="604"/>
          </a:xfrm>
        </p:grpSpPr>
        <p:sp>
          <p:nvSpPr>
            <p:cNvPr id="9" name="Rounded Rectangle 8"/>
            <p:cNvSpPr/>
            <p:nvPr/>
          </p:nvSpPr>
          <p:spPr>
            <a:xfrm>
              <a:off x="3816" y="6288"/>
              <a:ext cx="3168" cy="605"/>
            </a:xfrm>
            <a:prstGeom prst="roundRect">
              <a:avLst>
                <a:gd name="adj" fmla="val 30000"/>
              </a:avLst>
            </a:prstGeom>
            <a:solidFill>
              <a:srgbClr val="1F4E7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7200" y="6288"/>
              <a:ext cx="2160" cy="605"/>
            </a:xfrm>
            <a:prstGeom prst="roundRect">
              <a:avLst>
                <a:gd name="adj" fmla="val 30000"/>
              </a:avLst>
            </a:prstGeom>
            <a:solidFill>
              <a:srgbClr val="2B5A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9576" y="6288"/>
              <a:ext cx="5760" cy="605"/>
            </a:xfrm>
            <a:prstGeom prst="roundRect">
              <a:avLst>
                <a:gd name="adj" fmla="val 30000"/>
              </a:avLst>
            </a:prstGeom>
            <a:solidFill>
              <a:srgbClr val="2B5A83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>
                <a:solidFill>
                  <a:srgbClr val="2B5A83"/>
                </a:solidFill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591435" y="3766185"/>
            <a:ext cx="7009130" cy="349250"/>
            <a:chOff x="4072" y="6288"/>
            <a:chExt cx="11038" cy="550"/>
          </a:xfrm>
        </p:grpSpPr>
        <p:sp>
          <p:nvSpPr>
            <p:cNvPr id="10" name="TextBox 9"/>
            <p:cNvSpPr txBox="1"/>
            <p:nvPr/>
          </p:nvSpPr>
          <p:spPr>
            <a:xfrm>
              <a:off x="4072" y="6288"/>
              <a:ext cx="3168" cy="4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US"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AAAI</a:t>
              </a:r>
              <a:r>
                <a:rPr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2026</a:t>
              </a:r>
              <a:endPara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7456" y="6288"/>
              <a:ext cx="2160" cy="551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sz="1200" b="1" i="0">
                  <a:solidFill>
                    <a:srgbClr val="FFFF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CCF-A</a:t>
              </a:r>
              <a:endParaRPr sz="1200" b="1" i="0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10600" y="6288"/>
              <a:ext cx="4511" cy="493"/>
            </a:xfrm>
            <a:prstGeom prst="rect">
              <a:avLst/>
            </a:prstGeom>
            <a:noFill/>
          </p:spPr>
          <p:txBody>
            <a:bodyPr wrap="square">
              <a:noAutofit/>
            </a:bodyPr>
            <a:lstStyle/>
            <a:p>
              <a:pPr algn="ctr"/>
              <a:r>
                <a:rPr lang="en-US" sz="1200" b="1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USTC &amp; Beihang University</a:t>
              </a:r>
              <a:endParaRPr lang="en-US" sz="1200" b="1" i="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5" name="Rectangle 14"/>
          <p:cNvSpPr/>
          <p:nvPr/>
        </p:nvSpPr>
        <p:spPr>
          <a:xfrm>
            <a:off x="2459355" y="4505959"/>
            <a:ext cx="7273925" cy="7620"/>
          </a:xfrm>
          <a:custGeom>
            <a:avLst/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371600" y="4694555"/>
            <a:ext cx="9418320" cy="1168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汇报人：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学号：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xxxxx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导师：</a:t>
            </a:r>
            <a:r>
              <a:rPr lang="zh-CN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郑秋华副教授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 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lnSpc>
                <a:spcPts val="2800"/>
              </a:lnSpc>
            </a:pP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日期：2026年7月</a:t>
            </a:r>
            <a:r>
              <a:rPr lang="en-US"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29</a:t>
            </a:r>
            <a:r>
              <a:rPr sz="15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</a:t>
            </a:r>
            <a:endParaRPr sz="15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 / 12</a:t>
            </a:r>
            <a:endParaRPr sz="1000">
              <a:solidFill>
                <a:srgbClr val="A0A0A0"/>
              </a:solidFill>
            </a:endParaRPr>
          </a:p>
        </p:txBody>
      </p:sp>
      <p:sp>
        <p:nvSpPr>
          <p:cNvPr id="24" name="Rectangle 14"/>
          <p:cNvSpPr/>
          <p:nvPr/>
        </p:nvSpPr>
        <p:spPr>
          <a:xfrm rot="10800000">
            <a:off x="2743200" y="4505959"/>
            <a:ext cx="7273925" cy="7620"/>
          </a:xfrm>
          <a:custGeom>
            <a:avLst/>
            <a:gdLst>
              <a:gd name="connsiteX0" fmla="*/ 0 w 11455"/>
              <a:gd name="connsiteY0" fmla="*/ 0 h 12"/>
              <a:gd name="connsiteX1" fmla="*/ 11455 w 11455"/>
              <a:gd name="connsiteY1" fmla="*/ 6 h 12"/>
              <a:gd name="connsiteX2" fmla="*/ 7632 w 11455"/>
              <a:gd name="connsiteY2" fmla="*/ 12 h 12"/>
              <a:gd name="connsiteX3" fmla="*/ 0 w 11455"/>
              <a:gd name="connsiteY3" fmla="*/ 12 h 12"/>
              <a:gd name="connsiteX4" fmla="*/ 0 w 11455"/>
              <a:gd name="connsiteY4" fmla="*/ 0 h 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55" h="12">
                <a:moveTo>
                  <a:pt x="0" y="0"/>
                </a:moveTo>
                <a:lnTo>
                  <a:pt x="11455" y="6"/>
                </a:lnTo>
                <a:lnTo>
                  <a:pt x="7632" y="12"/>
                </a:lnTo>
                <a:lnTo>
                  <a:pt x="0" y="12"/>
                </a:lnTo>
                <a:lnTo>
                  <a:pt x="0" y="0"/>
                </a:lnTo>
                <a:close/>
              </a:path>
            </a:pathLst>
          </a:cu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1.1 文献基本信息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572000" cy="50292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论文信息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737360"/>
            <a:ext cx="4206240" cy="1291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会议：</a:t>
            </a:r>
            <a:r>
              <a:rPr lang="en-US"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AAAI-26</a:t>
            </a:r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（CCF-A / AI顶会）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作者：</a:t>
            </a:r>
            <a:r>
              <a:rPr lang="en-US" sz="1300" dirty="0">
                <a:solidFill>
                  <a:srgbClr val="000000"/>
                </a:solidFill>
                <a:sym typeface="+mn-ea"/>
              </a:rPr>
              <a:t>Zhiqiang Wang, Yichao Gao 等（USTC &amp; Beihang</a:t>
            </a:r>
            <a:endParaRPr lang="en-US" sz="1300" dirty="0">
              <a:solidFill>
                <a:srgbClr val="000000"/>
              </a:solidFill>
              <a:sym typeface="+mn-ea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发表日期：2026/06/01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关键词：MCP · Personalized Agent · Tool Simulation · Benchmark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3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代码：github.com/wwh0411/MCP-Persona</a:t>
            </a:r>
            <a:endParaRPr sz="13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57200" y="365760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主要研究内容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4023360"/>
            <a:ext cx="4206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首个面向真实个性化MCP工具的LLM Agent评测基准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涵盖12个仿真MCP服务器、173条人工验证任务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200" b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覆盖社交媒体/企业协作/内容管理/邮件四大场景</a:t>
            </a:r>
            <a:endParaRPr sz="1200" b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5120640" y="1005840"/>
            <a:ext cx="667512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394960" y="2971800"/>
            <a:ext cx="6126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1: System Overview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 → Context-Tree → Persona-Gen 三大模块交互关系</a:t>
            </a:r>
            <a:endParaRPr sz="110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核心贡献：提出Tool-Traverse仿真方法 + 构建MCP-Persona基准 + 揭示SOTA模型在个性化工具使用上的显著不足（最高Acc &lt; 50%）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2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1.2 研究背景与意义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05740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1: Benchmark 对比表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AppWorld / PersonaBench / MCP-Universe / ToolAthlon / MCP-Persona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六维度覆盖对比（Real-World / Personal Context / Social Media / Collaboration / Email / Content Mgmt）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343400"/>
            <a:ext cx="566928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研究背景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57200" y="48006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475488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MCP协议已成为连接LLM与外部工具的标准范式，个性化AI快速兴起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" y="530352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25780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现有基准聚焦通用搜索工具，无法覆盖账户绑定、状态管理、隐私约束等个性化挑战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217920" y="4343400"/>
            <a:ext cx="5669280" cy="2011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38912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研究意义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00800" y="48006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475488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首个覆盖社交媒体+企业协作+邮件+内容管理的个性化MCP评测平台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00800" y="530352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5257800"/>
            <a:ext cx="51023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通过环境仿真解决隐私约束与可复现性矛盾，为社区提供开放测试床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3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2.1 实验方法：Tool-Traverse 工具仿真范式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640080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 流程图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FC Seeds → Self-FC扩充 → FC Pool → 正向/对抗遍历 → Response Pool → LLM总结 → Python仿真代码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标注"Code-as-Simulation"范式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方法要点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49440" y="150876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55448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正向遍历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23760" y="182880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人工构造种子FC，记录(t, x_seed, y_seed, τ)交互元组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949440" y="228600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0" y="233172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对抗扩充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23760" y="260603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LLM驱动生成4类错误输入（类型不匹配/Schema违规/边界条件/语义冲突）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949440" y="306324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49440" y="310896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代码仿真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223760" y="3383279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LLM自动生成可执行Python文件作为仿真引擎，实现 f_t:(C, x)→(C', y)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949440" y="3840480"/>
            <a:ext cx="4754880" cy="9144"/>
          </a:xfrm>
          <a:prstGeom prst="rect">
            <a:avLst/>
          </a:prstGeom>
          <a:solidFill>
            <a:srgbClr val="D6E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49440" y="3886200"/>
            <a:ext cx="4754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B5A8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▸ 动态上下文</a:t>
            </a:r>
            <a:endParaRPr sz="1300" b="1" i="0">
              <a:solidFill>
                <a:srgbClr val="2B5A8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223760" y="4160520"/>
            <a:ext cx="4480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自动生成CRUD接口，支持多轮有状态交互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关键创新：不依赖静态文档，通过遍历真实行为边界实现高保真仿真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4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2.2 实验方法：Context-Tree 上下文构建 &amp; Persona-Gen 任务生成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4: Lark任务示例 + Context-Tree可视化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工具链如何与层级化上下文树交互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User→Chats→Messages, User→Calendars→Events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77840" cy="2286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Context-Tree 上下文构建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92240" y="155448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50876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树形层级结构统一不同Server的实体关系（如Lark: User→Calendar→Event）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92240" y="201168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96596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四种内容填充：Enumerate / Free-Form / Random / Authentic（真实小红书帖子脱敏）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3474720"/>
            <a:ext cx="5577840" cy="256032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5661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Persona-Gen 任务生成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492240" y="4023359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93408" y="3977639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工具链采样（满足依赖/个性化/去重/连贯/真实性5约束）→ 指令原型 → 上下文注入 → 模糊化处理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492240" y="44805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93408" y="443484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人工审核验证，最终产出173条高质量任务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92240" y="49377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93408" y="4892040"/>
            <a:ext cx="491947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通过Instruction Fuzzification模拟真实用户模糊表达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设计哲学：将"隐式上下文"从指令中解耦，迫使Agent主动探索环境获取必要信息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5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3.1 数据集统计与评估体系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2: 数据集统计（四子图）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Task distributions（饼图）  (b) Server tool coverage（柱状图）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(c) Tool chain distributions（柱状图）  (d) Necessary context length（柱状图）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4663440"/>
            <a:ext cx="1161288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457200" y="512064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5074920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规模：24个MCP Server（12个个性化），173条任务，970个checkpoint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457200" y="546811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5422392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评估指标：Acc / SR-0.8 / Exec-Acc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Oval 11"/>
          <p:cNvSpPr/>
          <p:nvPr/>
        </p:nvSpPr>
        <p:spPr>
          <a:xfrm>
            <a:off x="457200" y="581558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5769864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评估方式：Checkpoint-Based + Execution-Based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Oval 13"/>
          <p:cNvSpPr/>
          <p:nvPr/>
        </p:nvSpPr>
        <p:spPr>
          <a:xfrm>
            <a:off x="6217920" y="512064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19088" y="5074920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模型：GPT-5, Claude-Sonnet-4.5, o3, Qwen3-Max, DeepSeek-V3等（17个）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Oval 15"/>
          <p:cNvSpPr/>
          <p:nvPr/>
        </p:nvSpPr>
        <p:spPr>
          <a:xfrm>
            <a:off x="6217920" y="5468112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9088" y="5422392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任务类型：Single-Server + Cross-Server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217920" y="5815584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769864"/>
            <a:ext cx="528523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LLM Judge: GPT-4o + CRUD Executor验证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6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3.2 主实验结果：SOTA模型在个性化任务上的表现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347472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19456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3: 主结果表（完整模型×场景数据）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17个模型 × 全部场景的 Acc / SR-0.8 / Exec-Acc，高亮最优/最差值</a:t>
            </a:r>
            <a:endParaRPr sz="110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74320" y="4663440"/>
            <a:ext cx="11612880" cy="18288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709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核心发现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50749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整体表现</a:t>
            </a:r>
            <a:endParaRPr sz="11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645920" y="50749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所有模型Acc均 &lt; 50%，Claude-Sonnet-4.5最优（Overall Acc=40.81）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42239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单服务器</a:t>
            </a:r>
            <a:endParaRPr sz="11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645920" y="5422392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Email最简单（短依赖链）&gt; 社交媒体 &gt; 协作平台 &gt; 内容管理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5769864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跨服务器</a:t>
            </a:r>
            <a:endParaRPr sz="11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645920" y="57698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Hodgepodge最难（复杂跨Server依赖链），Lark-Centric次之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6117336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📊 指标对比</a:t>
            </a:r>
            <a:endParaRPr sz="11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645920" y="6117336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SR-0.8极低说明端到端完成任务极为困难；Exec-Acc略高于Acc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7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3.3 仿真保真度验证与消融实验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292608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920240"/>
            <a:ext cx="52120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4: Simulation Fidelity (50 samples on Lark)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Vanilla: Acc=58.0%, F1=53.3, METEOR=0.3214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Tool-Traverse: Acc=94.0%, F1=93.8, METEOR=0.8703</a:t>
            </a:r>
          </a:p>
        </p:txBody>
      </p:sp>
      <p:sp>
        <p:nvSpPr>
          <p:cNvPr id="6" name="Rectangle 5"/>
          <p:cNvSpPr/>
          <p:nvPr/>
        </p:nvSpPr>
        <p:spPr>
          <a:xfrm>
            <a:off x="6309360" y="1005840"/>
            <a:ext cx="5577840" cy="292608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09728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仿真验证结论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Oval 7"/>
          <p:cNvSpPr/>
          <p:nvPr/>
        </p:nvSpPr>
        <p:spPr>
          <a:xfrm>
            <a:off x="6492240" y="160020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93408" y="1554480"/>
            <a:ext cx="4919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Tool-Traverse在所有指标上显著优于Vanilla基线（F1: 93.8 vs 53.3）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Oval 9"/>
          <p:cNvSpPr/>
          <p:nvPr/>
        </p:nvSpPr>
        <p:spPr>
          <a:xfrm>
            <a:off x="6492240" y="2194560"/>
            <a:ext cx="109728" cy="109728"/>
          </a:xfrm>
          <a:prstGeom prst="ellipse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2148840"/>
            <a:ext cx="491947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响应相似度提升约3倍（TF-IDF/METEOR），证明仿真器忠实复现了真实Server的错误码与嵌套结构</a:t>
            </a:r>
            <a:endParaRPr sz="12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3383280"/>
            <a:ext cx="5577840" cy="237744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4023360"/>
            <a:ext cx="5029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Table 5/6: Skills &amp; Tool Candidate 消融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加入Skills: GPT-5 Exec-Acc 64.29→80.36（+16pp）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减少候选工具数量普遍提升Exec-Acc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仿真方法可靠 + 技能文档有效但仍有提升空间 + 工具选择策略影响显著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8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3.4 效率-性能权衡 &amp; 典型失败模式分析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6400800" cy="50292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97180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Figure 3: 效率-性能散点图（三子图）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(a) Avg Token vs Accuracy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(b) Avg Cost($) vs Accuracy</a:t>
            </a:r>
            <a:br/>
            <a:r>
              <a:t>(c) Avg Steps vs Accuracy</a:t>
            </a:r>
            <a:br/>
            <a:r>
              <a:t>标注GPT-5和Qwen3-Plus位置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0" y="10972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典型失败模式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949440" y="164592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645920"/>
            <a:ext cx="73152" cy="118872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78040" y="173736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环境探索不足</a:t>
            </a:r>
            <a:endParaRPr sz="13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178040" y="205740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Under Exploration：未主动查询隐式信息（如user_id），直接幻觉生成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949440" y="297180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949440" y="2971800"/>
            <a:ext cx="73152" cy="118872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306324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跳过依赖步骤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338328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Skipping Dependent Steps：省略ID解析步骤，直接传参导致执行失败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49440" y="4297680"/>
            <a:ext cx="4754880" cy="1188720"/>
          </a:xfrm>
          <a:prstGeom prst="rect">
            <a:avLst/>
          </a:prstGeom>
          <a:solidFill>
            <a:srgbClr val="FFFFFF"/>
          </a:solidFill>
          <a:ln w="19050">
            <a:solidFill>
              <a:srgbClr val="8E44A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49440" y="4297680"/>
            <a:ext cx="73152" cy="118872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78040" y="4389120"/>
            <a:ext cx="4389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E44AD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❌ 长上下文退化</a:t>
            </a:r>
            <a:endParaRPr sz="1300" b="1" i="0">
              <a:solidFill>
                <a:srgbClr val="8E44AD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178040" y="47091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Over Long Context：多轮交互后上下文堆积，模型遗忘初始约束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0" y="6035040"/>
            <a:ext cx="12191695" cy="64008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126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7AE6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✅ 花费与性能无明确正相关；失败根因在于隐式推理与多步状态维护能力不足</a:t>
            </a:r>
            <a:endParaRPr sz="1400" b="1">
              <a:solidFill>
                <a:srgbClr val="27AE6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9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4.1 源码复现验证：50样本 × 3模型对比实验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11612880" cy="914400"/>
          </a:xfrm>
          <a:prstGeom prst="rect">
            <a:avLst/>
          </a:prstGeom>
          <a:solidFill>
            <a:srgbClr val="F8F9FA"/>
          </a:solidFill>
          <a:ln w="12700">
            <a:solidFill>
              <a:srgbClr val="D6E4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51560"/>
          <a:ext cx="11247120" cy="822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418320"/>
              </a:tblGrid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项目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样本数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50条（随机/分层抽样）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模型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[模型A] / [模型B] / [模型C]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评估方式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Acc / SR-0.8 / Exec-Acc（与论文一致）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/>
                </a:tc>
              </a:tr>
              <a:tr h="164592"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环境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333333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MCP-Persona官方仿真环境</a:t>
                      </a:r>
                      <a:endParaRPr sz="1000">
                        <a:solidFill>
                          <a:srgbClr val="333333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>
                    <a:solidFill>
                      <a:srgbClr val="EBF1F8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274320" y="2103120"/>
            <a:ext cx="11612880" cy="3200400"/>
          </a:xfrm>
          <a:prstGeom prst="rect">
            <a:avLst/>
          </a:prstGeom>
          <a:solidFill>
            <a:srgbClr val="F2F2F2"/>
          </a:solidFill>
          <a:ln w="1905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64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（此处插入你的实验结果图表）</a:t>
            </a:r>
            <a:endParaRPr sz="1600" b="1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>
              <a:spcBef>
                <a:spcPts val="600"/>
              </a:spcBef>
            </a:pPr>
            <a: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建议：横轴=3个模型，纵轴=Acc/SR-0.8/Exec-Acc 分组柱状图</a:t>
            </a:r>
            <a:br>
              <a:rPr sz="110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t>或按场景细分（Single-Server / Cross-Server）的分组柱状图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5486400"/>
            <a:ext cx="11612880" cy="109728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55321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待填写结论</a:t>
            </a:r>
            <a:endParaRPr sz="14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585216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[待填写：与论文Table 3中对应模型数据的对比，是否一致/偏差多大]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[待填写：三个模型间的相对排序是否与论文一致]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[待填写：观察到的典型失败case或有趣现象]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10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82880"/>
            <a:ext cx="12191695" cy="64008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4.2 扩展验证：300样本 × 2模型 &amp; 文献总结与思考</a:t>
            </a:r>
            <a:endParaRPr sz="2400" b="1">
              <a:solidFill>
                <a:srgbClr val="FFFF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5760720" cy="2560320"/>
          </a:xfrm>
          <a:prstGeom prst="rect">
            <a:avLst/>
          </a:prstGeom>
          <a:solidFill>
            <a:srgbClr val="F2F2F2"/>
          </a:solidFill>
          <a:ln w="12700">
            <a:solidFill>
              <a:srgbClr val="A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300样本 × 2模型扩展实验</a:t>
            </a:r>
            <a:endParaRPr sz="13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样本：300条（含数据增强/多context实例）  模型：[模型D] / [模型E]</a:t>
            </a:r>
            <a:endParaRPr sz="10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539496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A0A0A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286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（此处插入实验结果图表）</a:t>
            </a:r>
            <a:endParaRPr sz="1300" b="1" i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309360" y="1005840"/>
            <a:ext cx="5577840" cy="2560320"/>
          </a:xfrm>
          <a:prstGeom prst="rect">
            <a:avLst/>
          </a:prstGeom>
          <a:solidFill>
            <a:srgbClr val="FFF8E1"/>
          </a:solidFill>
          <a:ln w="12700"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105156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待填写结论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2240" y="141732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[待填写：大样本下结果是否更稳定]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[待填写：与50样本结论是否一致]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/>
            <a:r>
              <a:rPr sz="1100" b="0">
                <a:solidFill>
                  <a:srgbClr val="A0A0A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• [待填写：两模型差异在扩大样本后是否更显著]</a:t>
            </a:r>
            <a:endParaRPr sz="1100" b="0">
              <a:solidFill>
                <a:srgbClr val="A0A0A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74320" y="3749039"/>
            <a:ext cx="11612880" cy="2560320"/>
          </a:xfrm>
          <a:prstGeom prst="rect">
            <a:avLst/>
          </a:prstGeom>
          <a:solidFill>
            <a:srgbClr val="F8F9FA"/>
          </a:solidFill>
          <a:ln w="1905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创新点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41605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 Tool-Traverse：遍历-仿真范式解决账户绑定工具不可公开评测的难题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448055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 Context-Tree：层级化用户画像支持有状态多轮交互仿真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4800599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 Persona-Gen：指令模糊化+上下文解耦，贴近真实用户表达</a:t>
            </a:r>
            <a:endParaRPr sz="1100" b="0" i="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37947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局限与改进方向</a:t>
            </a:r>
            <a:endParaRPr sz="1400" b="1" i="0">
              <a:solidFill>
                <a:srgbClr val="C039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Oval 17"/>
          <p:cNvSpPr/>
          <p:nvPr/>
        </p:nvSpPr>
        <p:spPr>
          <a:xfrm>
            <a:off x="6400800" y="4206240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1968" y="4160520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仿真保真度依赖遍历覆盖率，对极长尾case可能遗漏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400800" y="4526279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448055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评估依赖LLM Judge（8.45%不一致率），可探索更细粒度规则评估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6400800" y="4846319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4800599"/>
            <a:ext cx="5102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33333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未来可引入多用户交互、动态环境变化等更复杂场景</a:t>
            </a:r>
            <a:endParaRPr sz="1100">
              <a:solidFill>
                <a:srgbClr val="33333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11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743200" y="320040"/>
            <a:ext cx="6675120" cy="10972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6400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感谢聆听 · 欢迎讨论</a:t>
            </a:r>
            <a:endParaRPr sz="36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371600" y="1463040"/>
            <a:ext cx="9418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Thank You · Q &amp; A</a:t>
            </a:r>
            <a:endParaRPr sz="1800" b="0" i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0" y="2011680"/>
            <a:ext cx="3931920" cy="731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9418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核心参考文献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71600" y="2651760"/>
            <a:ext cx="9418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[1] Wang et al. MCP-Persona: Benchmarking LLM Agents on Real-World Personal Applications via Environment Simulation. ICML 2026.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[2] Patil et al. Gorilla: Large Language Model Connected with Massive APIs. NeurIPS 2023.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[3] Yao et al. ReAct: Synergizing Reasoning and Acting in Language Models. ICLR 2023.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[4] Anthropic. Model Context Protocol Specification. 2024.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l">
              <a:lnSpc>
                <a:spcPts val="2200"/>
              </a:lnSpc>
            </a:pPr>
            <a:r>
              <a:rPr sz="12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[5] （可补充你复现中参考的其他文献）</a:t>
            </a:r>
            <a:endParaRPr sz="12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14800" y="4937760"/>
            <a:ext cx="3931920" cy="7315"/>
          </a:xfrm>
          <a:prstGeom prst="rect">
            <a:avLst/>
          </a:prstGeom>
          <a:solidFill>
            <a:srgbClr val="A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12064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论文代码：github.com/wwh0411/MCP-Persona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复现代码/数据：[你的仓库链接]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  <a:p>
            <a:pPr algn="ctr">
              <a:lnSpc>
                <a:spcPts val="2000"/>
              </a:lnSpc>
            </a:pPr>
            <a:r>
              <a:rPr sz="1100" b="0">
                <a:solidFill>
                  <a:srgbClr val="A0A0A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</a:rPr>
              <a:t>汇报人邮箱：xxx@xxx.edu.cn</a:t>
            </a:r>
            <a:endParaRPr sz="1100" b="0">
              <a:solidFill>
                <a:srgbClr val="A0A0A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657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64922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A0A0A0"/>
                </a:solidFill>
              </a:rPr>
              <a:t>12 / 12</a:t>
            </a:r>
            <a:endParaRPr sz="1000">
              <a:solidFill>
                <a:srgbClr val="A0A0A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4411</Words>
  <Application>WPS 演示</Application>
  <PresentationFormat>On-screen Show (4:3)</PresentationFormat>
  <Paragraphs>281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3" baseType="lpstr">
      <vt:lpstr>Arial</vt:lpstr>
      <vt:lpstr>宋体</vt:lpstr>
      <vt:lpstr>Wingdings</vt:lpstr>
      <vt:lpstr>Arial</vt:lpstr>
      <vt:lpstr>微软雅黑</vt:lpstr>
      <vt:lpstr>Arial</vt:lpstr>
      <vt:lpstr>Arial</vt:lpstr>
      <vt:lpstr>Times New Roman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2021011990</cp:lastModifiedBy>
  <cp:revision>5</cp:revision>
  <dcterms:created xsi:type="dcterms:W3CDTF">2013-01-27T09:14:00Z</dcterms:created>
  <dcterms:modified xsi:type="dcterms:W3CDTF">2026-07-28T05:45:31Z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B62CE3517EF848A6A8238490D40A1F31_12</vt:lpwstr>
  </property>
</Properties>
</file>